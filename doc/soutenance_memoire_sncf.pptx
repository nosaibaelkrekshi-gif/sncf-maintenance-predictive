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notesMasterIdLst>
    <p:notesMasterId r:id="rId17"/>
  </p:notesMasterIdLst>
  <p:sldIdLst>
    <p:sldId id="27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1E2761"/>
                </a:solidFill>
                <a:latin typeface="Calibri"/>
              </a:defRPr>
            </a:pPr>
            <a:r>
              <a:rPr lang="fr-FR" sz="1200" b="0" i="0" u="none" strike="noStrike">
                <a:solidFill>
                  <a:srgbClr val="1E2761"/>
                </a:solidFill>
                <a:latin typeface="Calibri"/>
              </a:rPr>
              <a:t>Répartition du budget (k€)</a:t>
            </a:r>
          </a:p>
        </c:rich>
      </c:tx>
      <c:overlay val="0"/>
    </c:title>
    <c:autoTitleDeleted val="0"/>
    <c:plotArea>
      <c:layout/>
      <c:barChart>
        <c:barDir val="col"/>
        <c:grouping val="clustered"/>
        <c:varyColors val="0"/>
        <c:ser>
          <c:idx val="0"/>
          <c:order val="0"/>
          <c:tx>
            <c:strRef>
              <c:f>Sheet1!$B$1</c:f>
              <c:strCache>
                <c:ptCount val="1"/>
                <c:pt idx="0">
                  <c:v>Répartition (k€)</c:v>
                </c:pt>
              </c:strCache>
            </c:strRef>
          </c:tx>
          <c:spPr>
            <a:solidFill>
              <a:srgbClr val="1E2761"/>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RH équipe</c:v>
                </c:pt>
                <c:pt idx="1">
                  <c:v>Cloud</c:v>
                </c:pt>
                <c:pt idx="2">
                  <c:v>Licences</c:v>
                </c:pt>
                <c:pt idx="3">
                  <c:v>Données ext.</c:v>
                </c:pt>
                <c:pt idx="4">
                  <c:v>Formations</c:v>
                </c:pt>
                <c:pt idx="5">
                  <c:v>Pilote</c:v>
                </c:pt>
                <c:pt idx="6">
                  <c:v>Aléas</c:v>
                </c:pt>
              </c:strCache>
            </c:strRef>
          </c:cat>
          <c:val>
            <c:numRef>
              <c:f>Sheet1!$B$2:$B$8</c:f>
              <c:numCache>
                <c:formatCode>General</c:formatCode>
                <c:ptCount val="7"/>
                <c:pt idx="0">
                  <c:v>260</c:v>
                </c:pt>
                <c:pt idx="1">
                  <c:v>60</c:v>
                </c:pt>
                <c:pt idx="2">
                  <c:v>20</c:v>
                </c:pt>
                <c:pt idx="3">
                  <c:v>12</c:v>
                </c:pt>
                <c:pt idx="4">
                  <c:v>15</c:v>
                </c:pt>
                <c:pt idx="5">
                  <c:v>45</c:v>
                </c:pt>
                <c:pt idx="6">
                  <c:v>43</c:v>
                </c:pt>
              </c:numCache>
            </c:numRef>
          </c:val>
          <c:extLst>
            <c:ext xmlns:c16="http://schemas.microsoft.com/office/drawing/2014/chart" uri="{C3380CC4-5D6E-409C-BE32-E72D297353CC}">
              <c16:uniqueId val="{00000000-9783-41F6-B161-058734A4193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5206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fr-FR"/>
              <a:t>Modifiez le style des sous-titres du masque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2DE90F28-AFBB-4AB2-AA79-6D3F72ED131B}" type="slidenum">
              <a:rPr lang="en-US" smtClean="0"/>
              <a:pPr/>
              <a:t>‹N°›</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fr-FR"/>
              <a:t>Modifiez le style du titre</a:t>
            </a:r>
            <a:endParaRPr lang="en-US" dirty="0"/>
          </a:p>
        </p:txBody>
      </p:sp>
    </p:spTree>
    <p:extLst>
      <p:ext uri="{BB962C8B-B14F-4D97-AF65-F5344CB8AC3E}">
        <p14:creationId xmlns:p14="http://schemas.microsoft.com/office/powerpoint/2010/main" val="358203998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fr-FR"/>
              <a:t>Modifiez le style du titre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7FA43F5B-065E-43CE-B3FD-98C48A6F94D7}" type="datetime1">
              <a:rPr lang="en-US" smtClean="0"/>
              <a:pPr/>
              <a:t>9/2/2026</a:t>
            </a:fld>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2DE90F28-AFBB-4AB2-AA79-6D3F72ED131B}" type="slidenum">
              <a:rPr lang="en-US" smtClean="0"/>
              <a:pPr/>
              <a:t>‹N°›</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266406142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fr-FR"/>
              <a:t>Modifiez le style des sous-titres du masque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fr-FR"/>
              <a:t>Modifiez le style du titre</a:t>
            </a:r>
            <a:endParaRPr lang="en-US" dirty="0"/>
          </a:p>
        </p:txBody>
      </p:sp>
    </p:spTree>
    <p:extLst>
      <p:ext uri="{BB962C8B-B14F-4D97-AF65-F5344CB8AC3E}">
        <p14:creationId xmlns:p14="http://schemas.microsoft.com/office/powerpoint/2010/main" val="164681658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fr-FR"/>
              <a:t>Modifiez le style des sous-titres du masque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7FA43F5B-065E-43CE-B3FD-98C48A6F94D7}" type="datetime1">
              <a:rPr lang="en-US" smtClean="0"/>
              <a:pPr/>
              <a:t>9/2/2026</a:t>
            </a:fld>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2DE90F28-AFBB-4AB2-AA79-6D3F72ED131B}" type="slidenum">
              <a:rPr lang="en-US" smtClean="0"/>
              <a:pPr/>
              <a:t>‹N°›</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fr-FR"/>
              <a:t>Modifiez le style du titre</a:t>
            </a:r>
            <a:endParaRPr lang="en-US"/>
          </a:p>
        </p:txBody>
      </p:sp>
    </p:spTree>
    <p:extLst>
      <p:ext uri="{BB962C8B-B14F-4D97-AF65-F5344CB8AC3E}">
        <p14:creationId xmlns:p14="http://schemas.microsoft.com/office/powerpoint/2010/main" val="156066402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de section">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fr-FR"/>
              <a:t>Modifiez le style du titre</a:t>
            </a:r>
            <a:endParaRPr lang="en-US" dirty="0"/>
          </a:p>
        </p:txBody>
      </p:sp>
    </p:spTree>
    <p:extLst>
      <p:ext uri="{BB962C8B-B14F-4D97-AF65-F5344CB8AC3E}">
        <p14:creationId xmlns:p14="http://schemas.microsoft.com/office/powerpoint/2010/main" val="316365655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fr-FR"/>
              <a:t>Modifiez le style du titre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34099546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fr-FR"/>
              <a:t>Modifiez le style du titre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2DE90F28-AFBB-4AB2-AA79-6D3F72ED131B}" type="slidenum">
              <a:rPr lang="en-US" smtClean="0"/>
              <a:pPr/>
              <a:t>‹N°›</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282814682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fr-FR"/>
              <a:t>Modifiez le style du titre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7FA43F5B-065E-43CE-B3FD-98C48A6F94D7}" type="datetime1">
              <a:rPr lang="en-US" smtClean="0"/>
              <a:pPr/>
              <a:t>9/2/2026</a:t>
            </a:fld>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2DE90F28-AFBB-4AB2-AA79-6D3F72ED131B}" type="slidenum">
              <a:rPr lang="en-US" smtClean="0"/>
              <a:pPr/>
              <a:t>‹N°›</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29063997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fr-FR"/>
              <a:t>Modifiez le style du titre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a:t>Sample Footer Text</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7FA43F5B-065E-43CE-B3FD-98C48A6F94D7}" type="datetime1">
              <a:rPr lang="en-US" smtClean="0"/>
              <a:pPr/>
              <a:t>9/2/2026</a:t>
            </a:fld>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2DE90F28-AFBB-4AB2-AA79-6D3F72ED131B}" type="slidenum">
              <a:rPr lang="en-US" smtClean="0"/>
              <a:pPr/>
              <a:t>‹N°›</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37778181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fr-FR"/>
              <a:t>Modifiez le style du titre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32086867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fr-FR"/>
              <a:t>Modifiez le style du titre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7FA43F5B-065E-43CE-B3FD-98C48A6F94D7}" type="datetime1">
              <a:rPr lang="en-US" smtClean="0"/>
              <a:pPr/>
              <a:t>9/2/2026</a:t>
            </a:fld>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181735607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fr-FR"/>
              <a:t>Modifiez le style du titre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7FA43F5B-065E-43CE-B3FD-98C48A6F94D7}" type="datetime1">
              <a:rPr lang="en-US" smtClean="0"/>
              <a:pPr/>
              <a:t>9/2/2026</a:t>
            </a:fld>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151452818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fr-FR"/>
              <a:t>Modifiez le style du titre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395474561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fr-FR"/>
              <a:t>Modifiez le style du titre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237203872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fr-FR"/>
              <a:t>Modifiez le style du titre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351958017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fr-FR"/>
              <a:t>Modifiez le style du titre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7FA43F5B-065E-43CE-B3FD-98C48A6F94D7}" type="datetime1">
              <a:rPr lang="en-US" smtClean="0"/>
              <a:pPr/>
              <a:t>9/2/2026</a:t>
            </a:fld>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308415922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fr-FR"/>
              <a:t>Modifiez le style du titre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112374440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fr-FR"/>
              <a:t>Modifiez le style du titre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a:t>Sample Footer Text</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7FA43F5B-065E-43CE-B3FD-98C48A6F94D7}" type="datetime1">
              <a:rPr lang="en-US" smtClean="0"/>
              <a:pPr/>
              <a:t>9/2/2026</a:t>
            </a:fld>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2DE90F28-AFBB-4AB2-AA79-6D3F72ED131B}" type="slidenum">
              <a:rPr lang="en-US" smtClean="0"/>
              <a:pPr/>
              <a:t>‹N°›</a:t>
            </a:fld>
            <a:endParaRPr lang="en-US"/>
          </a:p>
        </p:txBody>
      </p:sp>
    </p:spTree>
    <p:extLst>
      <p:ext uri="{BB962C8B-B14F-4D97-AF65-F5344CB8AC3E}">
        <p14:creationId xmlns:p14="http://schemas.microsoft.com/office/powerpoint/2010/main" val="355814112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fr-FR"/>
              <a:t>Modifiez le style du titre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1413070257"/>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fr-FR"/>
              <a:t>Modifiez le style du titre</a:t>
            </a:r>
            <a:endParaRPr lang="en-US"/>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a:t>Sample Footer Text</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7FA43F5B-065E-43CE-B3FD-98C48A6F94D7}" type="datetime1">
              <a:rPr lang="en-US" smtClean="0"/>
              <a:pPr/>
              <a:t>9/2/2026</a:t>
            </a:fld>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2DE90F28-AFBB-4AB2-AA79-6D3F72ED131B}" type="slidenum">
              <a:rPr lang="en-US" smtClean="0"/>
              <a:pPr/>
              <a:t>‹N°›</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1424681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2DE90F28-AFBB-4AB2-AA79-6D3F72ED131B}" type="slidenum">
              <a:rPr lang="en-US" smtClean="0"/>
              <a:pPr/>
              <a:t>‹N°›</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a:t>Sample Footer Text</a:t>
            </a:r>
          </a:p>
        </p:txBody>
      </p:sp>
    </p:spTree>
    <p:extLst>
      <p:ext uri="{BB962C8B-B14F-4D97-AF65-F5344CB8AC3E}">
        <p14:creationId xmlns:p14="http://schemas.microsoft.com/office/powerpoint/2010/main" val="371084514"/>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fr-FR"/>
              <a:t>Modifiez le style du titre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r>
              <a:rPr lang="en-US"/>
              <a:t>Sample Footer Text</a:t>
            </a: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7FA43F5B-065E-43CE-B3FD-98C48A6F94D7}" type="datetime1">
              <a:rPr lang="en-US" smtClean="0"/>
              <a:pPr/>
              <a:t>9/2/2026</a:t>
            </a:fld>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2DE90F28-AFBB-4AB2-AA79-6D3F72ED131B}" type="slidenum">
              <a:rPr lang="en-US" smtClean="0"/>
              <a:pPr/>
              <a:t>‹N°›</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96895703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fr-FR"/>
              <a:t>Modifiez le style du titre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r>
              <a:rPr lang="en-US"/>
              <a:t>Sample Footer Text</a:t>
            </a: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7FA43F5B-065E-43CE-B3FD-98C48A6F94D7}" type="datetime1">
              <a:rPr lang="en-US" smtClean="0"/>
              <a:pPr/>
              <a:t>9/2/2026</a:t>
            </a:fld>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2DE90F28-AFBB-4AB2-AA79-6D3F72ED131B}" type="slidenum">
              <a:rPr lang="en-US" smtClean="0"/>
              <a:pPr/>
              <a:t>‹N°›</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fr-FR"/>
              <a:t>Cliquez pour modifier les styles du texte du masque</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fr-FR"/>
              <a:t>Cliquez pour modifier les styles du texte du masque</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374797320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fr-FR"/>
              <a:t>Modifiez le style du titre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FA43F5B-065E-43CE-B3FD-98C48A6F94D7}" type="datetime1">
              <a:rPr lang="en-US" smtClean="0"/>
              <a:pPr/>
              <a:t>9/2/2026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33955079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a:t>Sample Footer Text</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7FA43F5B-065E-43CE-B3FD-98C48A6F94D7}" type="datetime1">
              <a:rPr lang="en-US" smtClean="0"/>
              <a:pPr/>
              <a:t>9/2/2026</a:t>
            </a:fld>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413884059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fr-FR"/>
              <a:t>Modifiez le style du titre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a:t>Sample Footer Text</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7FA43F5B-065E-43CE-B3FD-98C48A6F94D7}" type="datetime1">
              <a:rPr lang="en-US" smtClean="0"/>
              <a:pPr/>
              <a:t>9/2/2026</a:t>
            </a:fld>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2DE90F28-AFBB-4AB2-AA79-6D3F72ED131B}" type="slidenum">
              <a:rPr lang="en-US" smtClean="0"/>
              <a:pPr/>
              <a:t>‹N°›</a:t>
            </a:fld>
            <a:endParaRPr lang="en-US"/>
          </a:p>
        </p:txBody>
      </p:sp>
    </p:spTree>
    <p:extLst>
      <p:ext uri="{BB962C8B-B14F-4D97-AF65-F5344CB8AC3E}">
        <p14:creationId xmlns:p14="http://schemas.microsoft.com/office/powerpoint/2010/main" val="120997467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fr-FR"/>
              <a:t>Modifiez le style du titre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a:t>Sample Footer Text</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7FA43F5B-065E-43CE-B3FD-98C48A6F94D7}" type="datetime1">
              <a:rPr lang="en-US" smtClean="0"/>
              <a:pPr/>
              <a:t>9/2/2026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2DE90F28-AFBB-4AB2-AA79-6D3F72ED131B}" type="slidenum">
              <a:rPr lang="en-US" smtClean="0"/>
              <a:pPr/>
              <a:t>‹N°›</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4200701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7663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fr-FR"/>
              <a:t>Modifiez le style du titre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7FA43F5B-065E-43CE-B3FD-98C48A6F94D7}" type="datetime1">
              <a:rPr lang="en-US" smtClean="0"/>
              <a:pPr/>
              <a:t>9/2/2026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2DE90F28-AFBB-4AB2-AA79-6D3F72ED131B}" type="slidenum">
              <a:rPr lang="en-US" smtClean="0"/>
              <a:pPr/>
              <a:t>‹N°›</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1818076776"/>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 id="2147483772" r:id="rId22"/>
    <p:sldLayoutId id="2147483773" r:id="rId23"/>
    <p:sldLayoutId id="2147483774" r:id="rId24"/>
    <p:sldLayoutId id="2147483775" r:id="rId25"/>
    <p:sldLayoutId id="2147483776" r:id="rId26"/>
    <p:sldLayoutId id="2147483777" r:id="rId27"/>
    <p:sldLayoutId id="2147483778" r:id="rId28"/>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8.xml"/><Relationship Id="rId5" Type="http://schemas.openxmlformats.org/officeDocument/2006/relationships/image" Target="../media/image11.png"/><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8.xml"/><Relationship Id="rId5" Type="http://schemas.openxmlformats.org/officeDocument/2006/relationships/image" Target="../media/image11.pn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8.xml"/><Relationship Id="rId5" Type="http://schemas.openxmlformats.org/officeDocument/2006/relationships/image" Target="../media/image11.pn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8.xml"/><Relationship Id="rId5" Type="http://schemas.openxmlformats.org/officeDocument/2006/relationships/image" Target="../media/image11.png"/><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F577602-7B23-8CCB-3893-BEDB5A54586D}"/>
              </a:ext>
            </a:extLst>
          </p:cNvPr>
          <p:cNvPicPr>
            <a:picLocks noChangeAspect="1"/>
          </p:cNvPicPr>
          <p:nvPr/>
        </p:nvPicPr>
        <p:blipFill>
          <a:blip r:embed="rId2"/>
          <a:stretch>
            <a:fillRect/>
          </a:stretch>
        </p:blipFill>
        <p:spPr>
          <a:xfrm>
            <a:off x="0" y="1"/>
            <a:ext cx="12191999" cy="6858000"/>
          </a:xfrm>
          <a:prstGeom prst="rect">
            <a:avLst/>
          </a:prstGeom>
        </p:spPr>
      </p:pic>
    </p:spTree>
    <p:extLst>
      <p:ext uri="{BB962C8B-B14F-4D97-AF65-F5344CB8AC3E}">
        <p14:creationId xmlns:p14="http://schemas.microsoft.com/office/powerpoint/2010/main" val="98337892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0175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LE CONTEXTE, EN BREF</a:t>
            </a:r>
            <a:endParaRPr lang="en-US" sz="1200" dirty="0"/>
          </a:p>
        </p:txBody>
      </p:sp>
      <p:sp>
        <p:nvSpPr>
          <p:cNvPr id="3" name="Text 1"/>
          <p:cNvSpPr txBox="1"/>
          <p:nvPr/>
        </p:nvSpPr>
        <p:spPr>
          <a:xfrm>
            <a:off x="548640" y="71951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La SNCF aujourd'hui : un leader sous pression concurrentielle</a:t>
            </a:r>
            <a:endParaRPr lang="en-US" sz="3000" dirty="0"/>
          </a:p>
        </p:txBody>
      </p:sp>
      <p:sp>
        <p:nvSpPr>
          <p:cNvPr id="4" name="Shape 2"/>
          <p:cNvSpPr/>
          <p:nvPr/>
        </p:nvSpPr>
        <p:spPr>
          <a:xfrm>
            <a:off x="548640" y="1737360"/>
            <a:ext cx="3429000" cy="2651760"/>
          </a:xfrm>
          <a:prstGeom prst="roundRect">
            <a:avLst>
              <a:gd name="adj" fmla="val 2759"/>
            </a:avLst>
          </a:prstGeom>
          <a:solidFill>
            <a:srgbClr val="F7F8FC"/>
          </a:solidFill>
          <a:ln/>
        </p:spPr>
        <p:txBody>
          <a:bodyPr/>
          <a:lstStyle/>
          <a:p>
            <a:endParaRPr lang="fr-FR"/>
          </a:p>
        </p:txBody>
      </p:sp>
      <p:sp>
        <p:nvSpPr>
          <p:cNvPr id="5" name="Text 3"/>
          <p:cNvSpPr txBox="1"/>
          <p:nvPr/>
        </p:nvSpPr>
        <p:spPr>
          <a:xfrm>
            <a:off x="731520" y="2057400"/>
            <a:ext cx="3063240"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43,4 Md€</a:t>
            </a:r>
            <a:endParaRPr lang="en-US" sz="3400" dirty="0"/>
          </a:p>
        </p:txBody>
      </p:sp>
      <p:sp>
        <p:nvSpPr>
          <p:cNvPr id="6" name="Text 4"/>
          <p:cNvSpPr txBox="1"/>
          <p:nvPr/>
        </p:nvSpPr>
        <p:spPr>
          <a:xfrm>
            <a:off x="731520" y="2971800"/>
            <a:ext cx="3063240" cy="1188720"/>
          </a:xfrm>
          <a:prstGeom prst="rect">
            <a:avLst/>
          </a:prstGeom>
          <a:noFill/>
          <a:ln/>
        </p:spPr>
        <p:txBody>
          <a:bodyPr wrap="square" lIns="0" tIns="0" rIns="0" bIns="0" rtlCol="0" anchor="ctr"/>
          <a:lstStyle/>
          <a:p>
            <a:pPr marL="0" indent="0">
              <a:lnSpc>
                <a:spcPct val="115000"/>
              </a:lnSpc>
              <a:buNone/>
            </a:pPr>
            <a:r>
              <a:rPr lang="en-US" sz="1300" dirty="0">
                <a:solidFill>
                  <a:srgbClr val="1A1A2E"/>
                </a:solidFill>
                <a:latin typeface="Calibri" pitchFamily="34" charset="0"/>
                <a:ea typeface="Calibri" pitchFamily="34" charset="-122"/>
                <a:cs typeface="Calibri" pitchFamily="34" charset="-120"/>
              </a:rPr>
              <a:t>de chiffre d'affaires en 2024,</a:t>
            </a:r>
            <a:endParaRPr lang="en-US" sz="1300" dirty="0"/>
          </a:p>
          <a:p>
            <a:pPr marL="0" indent="0">
              <a:lnSpc>
                <a:spcPct val="115000"/>
              </a:lnSpc>
              <a:buNone/>
            </a:pPr>
            <a:r>
              <a:rPr lang="en-US" sz="1300" dirty="0">
                <a:solidFill>
                  <a:srgbClr val="1A1A2E"/>
                </a:solidFill>
                <a:latin typeface="Calibri" pitchFamily="34" charset="0"/>
                <a:ea typeface="Calibri" pitchFamily="34" charset="-122"/>
                <a:cs typeface="Calibri" pitchFamily="34" charset="-120"/>
              </a:rPr>
              <a:t>4ᵉ année consécutive bénéficiaire</a:t>
            </a:r>
            <a:endParaRPr lang="en-US" sz="1300" dirty="0"/>
          </a:p>
        </p:txBody>
      </p:sp>
      <p:sp>
        <p:nvSpPr>
          <p:cNvPr id="7" name="Shape 5"/>
          <p:cNvSpPr/>
          <p:nvPr/>
        </p:nvSpPr>
        <p:spPr>
          <a:xfrm>
            <a:off x="4297680" y="1737360"/>
            <a:ext cx="3429000" cy="2651760"/>
          </a:xfrm>
          <a:prstGeom prst="roundRect">
            <a:avLst>
              <a:gd name="adj" fmla="val 2759"/>
            </a:avLst>
          </a:prstGeom>
          <a:solidFill>
            <a:srgbClr val="F7F8FC"/>
          </a:solidFill>
          <a:ln/>
        </p:spPr>
        <p:txBody>
          <a:bodyPr/>
          <a:lstStyle/>
          <a:p>
            <a:endParaRPr lang="fr-FR"/>
          </a:p>
        </p:txBody>
      </p:sp>
      <p:sp>
        <p:nvSpPr>
          <p:cNvPr id="8" name="Text 6"/>
          <p:cNvSpPr txBox="1"/>
          <p:nvPr/>
        </p:nvSpPr>
        <p:spPr>
          <a:xfrm>
            <a:off x="4480560" y="2057400"/>
            <a:ext cx="3063240"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114 Md</a:t>
            </a:r>
            <a:endParaRPr lang="en-US" sz="3400" dirty="0"/>
          </a:p>
        </p:txBody>
      </p:sp>
      <p:sp>
        <p:nvSpPr>
          <p:cNvPr id="9" name="Text 7"/>
          <p:cNvSpPr txBox="1"/>
          <p:nvPr/>
        </p:nvSpPr>
        <p:spPr>
          <a:xfrm>
            <a:off x="4480560" y="2971800"/>
            <a:ext cx="3063240" cy="1188720"/>
          </a:xfrm>
          <a:prstGeom prst="rect">
            <a:avLst/>
          </a:prstGeom>
          <a:noFill/>
          <a:ln/>
        </p:spPr>
        <p:txBody>
          <a:bodyPr wrap="square" lIns="0" tIns="0" rIns="0" bIns="0" rtlCol="0" anchor="ctr"/>
          <a:lstStyle/>
          <a:p>
            <a:pPr marL="0" indent="0">
              <a:lnSpc>
                <a:spcPct val="115000"/>
              </a:lnSpc>
              <a:buNone/>
            </a:pPr>
            <a:r>
              <a:rPr lang="en-US" sz="1300" dirty="0">
                <a:solidFill>
                  <a:srgbClr val="1A1A2E"/>
                </a:solidFill>
                <a:latin typeface="Calibri" pitchFamily="34" charset="0"/>
                <a:ea typeface="Calibri" pitchFamily="34" charset="-122"/>
                <a:cs typeface="Calibri" pitchFamily="34" charset="-120"/>
              </a:rPr>
              <a:t>passagers-km parcourus en 2024,</a:t>
            </a:r>
            <a:endParaRPr lang="en-US" sz="1300" dirty="0"/>
          </a:p>
          <a:p>
            <a:pPr marL="0" indent="0">
              <a:lnSpc>
                <a:spcPct val="115000"/>
              </a:lnSpc>
              <a:buNone/>
            </a:pPr>
            <a:r>
              <a:rPr lang="en-US" sz="1300" dirty="0">
                <a:solidFill>
                  <a:srgbClr val="1A1A2E"/>
                </a:solidFill>
                <a:latin typeface="Calibri" pitchFamily="34" charset="0"/>
                <a:ea typeface="Calibri" pitchFamily="34" charset="-122"/>
                <a:cs typeface="Calibri" pitchFamily="34" charset="-120"/>
              </a:rPr>
              <a:t>record pour la 3ᵉ année de suite</a:t>
            </a:r>
            <a:endParaRPr lang="en-US" sz="1300" dirty="0"/>
          </a:p>
        </p:txBody>
      </p:sp>
      <p:sp>
        <p:nvSpPr>
          <p:cNvPr id="10" name="Shape 8"/>
          <p:cNvSpPr/>
          <p:nvPr/>
        </p:nvSpPr>
        <p:spPr>
          <a:xfrm>
            <a:off x="8046720" y="1737360"/>
            <a:ext cx="3429000" cy="2651760"/>
          </a:xfrm>
          <a:prstGeom prst="roundRect">
            <a:avLst>
              <a:gd name="adj" fmla="val 2759"/>
            </a:avLst>
          </a:prstGeom>
          <a:solidFill>
            <a:srgbClr val="F7F8FC"/>
          </a:solidFill>
          <a:ln/>
        </p:spPr>
        <p:txBody>
          <a:bodyPr/>
          <a:lstStyle/>
          <a:p>
            <a:endParaRPr lang="fr-FR"/>
          </a:p>
        </p:txBody>
      </p:sp>
      <p:sp>
        <p:nvSpPr>
          <p:cNvPr id="11" name="Text 9"/>
          <p:cNvSpPr txBox="1"/>
          <p:nvPr/>
        </p:nvSpPr>
        <p:spPr>
          <a:xfrm>
            <a:off x="8229600" y="2057400"/>
            <a:ext cx="3063240" cy="822960"/>
          </a:xfrm>
          <a:prstGeom prst="rect">
            <a:avLst/>
          </a:prstGeom>
          <a:noFill/>
          <a:ln/>
        </p:spPr>
        <p:txBody>
          <a:bodyPr wrap="square" lIns="0" tIns="0" rIns="0" bIns="0" rtlCol="0" anchor="ctr"/>
          <a:lstStyle/>
          <a:p>
            <a:pPr marL="0" indent="0">
              <a:buNone/>
            </a:pPr>
            <a:r>
              <a:rPr lang="en-US" sz="3400" b="1" dirty="0">
                <a:solidFill>
                  <a:srgbClr val="E2001A"/>
                </a:solidFill>
                <a:latin typeface="Cambria" pitchFamily="34" charset="0"/>
                <a:ea typeface="Cambria" pitchFamily="34" charset="-122"/>
                <a:cs typeface="Cambria" pitchFamily="34" charset="-120"/>
              </a:rPr>
              <a:t>~15%</a:t>
            </a:r>
            <a:endParaRPr lang="en-US" sz="3400" dirty="0"/>
          </a:p>
        </p:txBody>
      </p:sp>
      <p:sp>
        <p:nvSpPr>
          <p:cNvPr id="12" name="Text 10"/>
          <p:cNvSpPr txBox="1"/>
          <p:nvPr/>
        </p:nvSpPr>
        <p:spPr>
          <a:xfrm>
            <a:off x="8229600" y="2971800"/>
            <a:ext cx="3063240" cy="1188720"/>
          </a:xfrm>
          <a:prstGeom prst="rect">
            <a:avLst/>
          </a:prstGeom>
          <a:noFill/>
          <a:ln/>
        </p:spPr>
        <p:txBody>
          <a:bodyPr wrap="square" lIns="0" tIns="0" rIns="0" bIns="0" rtlCol="0" anchor="ctr"/>
          <a:lstStyle/>
          <a:p>
            <a:pPr marL="0" indent="0">
              <a:lnSpc>
                <a:spcPct val="115000"/>
              </a:lnSpc>
              <a:buNone/>
            </a:pPr>
            <a:r>
              <a:rPr lang="en-US" sz="1300" dirty="0">
                <a:solidFill>
                  <a:srgbClr val="1A1A2E"/>
                </a:solidFill>
                <a:latin typeface="Calibri" pitchFamily="34" charset="0"/>
                <a:ea typeface="Calibri" pitchFamily="34" charset="-122"/>
                <a:cs typeface="Calibri" pitchFamily="34" charset="-120"/>
              </a:rPr>
              <a:t>de parts de marché déjà captées</a:t>
            </a:r>
            <a:endParaRPr lang="en-US" sz="1300" dirty="0"/>
          </a:p>
          <a:p>
            <a:pPr marL="0" indent="0">
              <a:lnSpc>
                <a:spcPct val="115000"/>
              </a:lnSpc>
              <a:buNone/>
            </a:pPr>
            <a:r>
              <a:rPr lang="en-US" sz="1300" dirty="0">
                <a:solidFill>
                  <a:srgbClr val="1A1A2E"/>
                </a:solidFill>
                <a:latin typeface="Calibri" pitchFamily="34" charset="0"/>
                <a:ea typeface="Calibri" pitchFamily="34" charset="-122"/>
                <a:cs typeface="Calibri" pitchFamily="34" charset="-120"/>
              </a:rPr>
              <a:t>par Trenitalia et Renfe depuis 2020</a:t>
            </a:r>
            <a:endParaRPr lang="en-US" sz="1300" dirty="0"/>
          </a:p>
        </p:txBody>
      </p:sp>
      <p:sp>
        <p:nvSpPr>
          <p:cNvPr id="13" name="Text 11"/>
          <p:cNvSpPr txBox="1"/>
          <p:nvPr/>
        </p:nvSpPr>
        <p:spPr>
          <a:xfrm>
            <a:off x="1465385" y="5229080"/>
            <a:ext cx="7753643" cy="8229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Un marché en forte croissance… mais où la différenciation ne peut plus reposer sur le prix seul.</a:t>
            </a:r>
            <a:endParaRPr lang="en-US" sz="1500" dirty="0"/>
          </a:p>
        </p:txBody>
      </p:sp>
      <p:sp>
        <p:nvSpPr>
          <p:cNvPr id="14" name="Text 12"/>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pic>
        <p:nvPicPr>
          <p:cNvPr id="18" name="Image 17" descr="image.png">
            <a:extLst>
              <a:ext uri="{FF2B5EF4-FFF2-40B4-BE49-F238E27FC236}">
                <a16:creationId xmlns:a16="http://schemas.microsoft.com/office/drawing/2014/main" id="{E0205DA2-922E-F855-B806-99C297D83EFD}"/>
              </a:ext>
            </a:extLst>
          </p:cNvPr>
          <p:cNvPicPr>
            <a:picLocks noChangeAspect="1"/>
          </p:cNvPicPr>
          <p:nvPr/>
        </p:nvPicPr>
        <p:blipFill>
          <a:blip r:embed="rId3"/>
          <a:srcRect l="14000" r="6547"/>
          <a:stretch>
            <a:fillRect/>
          </a:stretch>
        </p:blipFill>
        <p:spPr>
          <a:xfrm>
            <a:off x="9472246" y="4584010"/>
            <a:ext cx="2344616" cy="2113101"/>
          </a:xfrm>
          <a:prstGeom prst="rect">
            <a:avLst/>
          </a:prstGeom>
        </p:spPr>
      </p:pic>
      <p:pic>
        <p:nvPicPr>
          <p:cNvPr id="19" name="Image 18" descr="Logotipo De La Historia De Sncf">
            <a:extLst>
              <a:ext uri="{FF2B5EF4-FFF2-40B4-BE49-F238E27FC236}">
                <a16:creationId xmlns:a16="http://schemas.microsoft.com/office/drawing/2014/main" id="{A5B9417B-EA92-E368-6F50-59A7F9A02427}"/>
              </a:ext>
            </a:extLst>
          </p:cNvPr>
          <p:cNvPicPr>
            <a:picLocks noChangeAspect="1"/>
          </p:cNvPicPr>
          <p:nvPr/>
        </p:nvPicPr>
        <p:blipFill>
          <a:blip r:embed="rId4"/>
          <a:stretch>
            <a:fillRect/>
          </a:stretch>
        </p:blipFill>
        <p:spPr>
          <a:xfrm>
            <a:off x="11612880" y="16974"/>
            <a:ext cx="511698" cy="287830"/>
          </a:xfrm>
          <a:prstGeom prst="rect">
            <a:avLst/>
          </a:prstGeom>
        </p:spPr>
      </p:pic>
      <p:pic>
        <p:nvPicPr>
          <p:cNvPr id="20" name="Image 19" descr="NEXA Digital School - Eureka Éducation">
            <a:extLst>
              <a:ext uri="{FF2B5EF4-FFF2-40B4-BE49-F238E27FC236}">
                <a16:creationId xmlns:a16="http://schemas.microsoft.com/office/drawing/2014/main" id="{86FB44DA-5AF0-45EB-E00F-BDD431438C98}"/>
              </a:ext>
            </a:extLst>
          </p:cNvPr>
          <p:cNvPicPr>
            <a:picLocks noChangeAspect="1"/>
          </p:cNvPicPr>
          <p:nvPr/>
        </p:nvPicPr>
        <p:blipFill>
          <a:blip r:embed="rId5"/>
          <a:stretch>
            <a:fillRect/>
          </a:stretch>
        </p:blipFill>
        <p:spPr>
          <a:xfrm>
            <a:off x="121920" y="6420115"/>
            <a:ext cx="773698" cy="343178"/>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LE PROBLÈME</a:t>
            </a:r>
            <a:endParaRPr lang="en-US" sz="1200" dirty="0"/>
          </a:p>
        </p:txBody>
      </p:sp>
      <p:sp>
        <p:nvSpPr>
          <p:cNvPr id="3" name="Text 1"/>
          <p:cNvSpPr txBox="1"/>
          <p:nvPr/>
        </p:nvSpPr>
        <p:spPr>
          <a:xfrm>
            <a:off x="548640" y="758952"/>
            <a:ext cx="11064240" cy="475488"/>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Les retards coûtent cher — et l'ouverture à la concurrence ne pardonne plus rien</a:t>
            </a:r>
            <a:endParaRPr lang="en-US" sz="3000" dirty="0"/>
          </a:p>
        </p:txBody>
      </p:sp>
      <p:sp>
        <p:nvSpPr>
          <p:cNvPr id="4" name="Shape 2"/>
          <p:cNvSpPr/>
          <p:nvPr/>
        </p:nvSpPr>
        <p:spPr>
          <a:xfrm>
            <a:off x="640080" y="1783080"/>
            <a:ext cx="502920" cy="502920"/>
          </a:xfrm>
          <a:prstGeom prst="ellipse">
            <a:avLst/>
          </a:prstGeom>
          <a:solidFill>
            <a:srgbClr val="1E2761"/>
          </a:solidFill>
          <a:ln/>
        </p:spPr>
        <p:txBody>
          <a:bodyPr/>
          <a:lstStyle/>
          <a:p>
            <a:endParaRPr lang="fr-FR"/>
          </a:p>
        </p:txBody>
      </p:sp>
      <p:sp>
        <p:nvSpPr>
          <p:cNvPr id="5" name="Text 3"/>
          <p:cNvSpPr txBox="1"/>
          <p:nvPr/>
        </p:nvSpPr>
        <p:spPr>
          <a:xfrm>
            <a:off x="640080" y="17830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417320" y="1737360"/>
            <a:ext cx="4023360" cy="5486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Insatisfaction n°1</a:t>
            </a:r>
            <a:endParaRPr lang="en-US" sz="1600" dirty="0"/>
          </a:p>
        </p:txBody>
      </p:sp>
      <p:sp>
        <p:nvSpPr>
          <p:cNvPr id="7" name="Text 5"/>
          <p:cNvSpPr txBox="1"/>
          <p:nvPr/>
        </p:nvSpPr>
        <p:spPr>
          <a:xfrm>
            <a:off x="5577840" y="1709928"/>
            <a:ext cx="6035040" cy="777240"/>
          </a:xfrm>
          <a:prstGeom prst="rect">
            <a:avLst/>
          </a:prstGeom>
          <a:noFill/>
          <a:ln/>
        </p:spPr>
        <p:txBody>
          <a:bodyPr wrap="square" lIns="0" tIns="0" rIns="0" bIns="0" rtlCol="0" anchor="t"/>
          <a:lstStyle/>
          <a:p>
            <a:pPr marL="0" indent="0">
              <a:buNone/>
            </a:pPr>
            <a:r>
              <a:rPr lang="en-US" sz="1350" dirty="0">
                <a:solidFill>
                  <a:srgbClr val="1A1A2E"/>
                </a:solidFill>
                <a:latin typeface="Calibri" pitchFamily="34" charset="0"/>
                <a:ea typeface="Calibri" pitchFamily="34" charset="-122"/>
                <a:cs typeface="Calibri" pitchFamily="34" charset="-120"/>
              </a:rPr>
              <a:t>Les retards sont le premier motif d'insatisfaction des voyageurs, avec un impact direct sur la fidélisation.</a:t>
            </a:r>
            <a:endParaRPr lang="en-US" sz="1350" dirty="0"/>
          </a:p>
        </p:txBody>
      </p:sp>
      <p:sp>
        <p:nvSpPr>
          <p:cNvPr id="8" name="Shape 6"/>
          <p:cNvSpPr/>
          <p:nvPr/>
        </p:nvSpPr>
        <p:spPr>
          <a:xfrm>
            <a:off x="640080" y="2834640"/>
            <a:ext cx="502920" cy="502920"/>
          </a:xfrm>
          <a:prstGeom prst="ellipse">
            <a:avLst/>
          </a:prstGeom>
          <a:solidFill>
            <a:srgbClr val="1E2761"/>
          </a:solidFill>
          <a:ln/>
        </p:spPr>
        <p:txBody>
          <a:bodyPr/>
          <a:lstStyle/>
          <a:p>
            <a:endParaRPr lang="fr-FR"/>
          </a:p>
        </p:txBody>
      </p:sp>
      <p:sp>
        <p:nvSpPr>
          <p:cNvPr id="9" name="Text 7"/>
          <p:cNvSpPr txBox="1"/>
          <p:nvPr/>
        </p:nvSpPr>
        <p:spPr>
          <a:xfrm>
            <a:off x="640080" y="28346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788920"/>
            <a:ext cx="4023360" cy="5486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Coûts directs &amp; indirects</a:t>
            </a:r>
            <a:endParaRPr lang="en-US" sz="1600" dirty="0"/>
          </a:p>
        </p:txBody>
      </p:sp>
      <p:sp>
        <p:nvSpPr>
          <p:cNvPr id="11" name="Text 9"/>
          <p:cNvSpPr txBox="1"/>
          <p:nvPr/>
        </p:nvSpPr>
        <p:spPr>
          <a:xfrm>
            <a:off x="5577840" y="2761488"/>
            <a:ext cx="6035040" cy="777240"/>
          </a:xfrm>
          <a:prstGeom prst="rect">
            <a:avLst/>
          </a:prstGeom>
          <a:noFill/>
          <a:ln/>
        </p:spPr>
        <p:txBody>
          <a:bodyPr wrap="square" lIns="0" tIns="0" rIns="0" bIns="0" rtlCol="0" anchor="t"/>
          <a:lstStyle/>
          <a:p>
            <a:pPr marL="0" indent="0">
              <a:buNone/>
            </a:pPr>
            <a:r>
              <a:rPr lang="en-US" sz="1350" dirty="0">
                <a:solidFill>
                  <a:srgbClr val="1A1A2E"/>
                </a:solidFill>
                <a:latin typeface="Calibri" pitchFamily="34" charset="0"/>
                <a:ea typeface="Calibri" pitchFamily="34" charset="-122"/>
                <a:cs typeface="Calibri" pitchFamily="34" charset="-120"/>
              </a:rPr>
              <a:t>Indemnisations réglementaires (UE 2021/782), interventions correctives d'urgence, attrition client.</a:t>
            </a:r>
            <a:endParaRPr lang="en-US" sz="1350" dirty="0"/>
          </a:p>
        </p:txBody>
      </p:sp>
      <p:sp>
        <p:nvSpPr>
          <p:cNvPr id="12" name="Shape 10"/>
          <p:cNvSpPr/>
          <p:nvPr/>
        </p:nvSpPr>
        <p:spPr>
          <a:xfrm>
            <a:off x="640080" y="3886200"/>
            <a:ext cx="502920" cy="502920"/>
          </a:xfrm>
          <a:prstGeom prst="ellipse">
            <a:avLst/>
          </a:prstGeom>
          <a:solidFill>
            <a:srgbClr val="1E2761"/>
          </a:solidFill>
          <a:ln/>
        </p:spPr>
        <p:txBody>
          <a:bodyPr/>
          <a:lstStyle/>
          <a:p>
            <a:endParaRPr lang="fr-FR"/>
          </a:p>
        </p:txBody>
      </p:sp>
      <p:sp>
        <p:nvSpPr>
          <p:cNvPr id="13" name="Text 11"/>
          <p:cNvSpPr txBox="1"/>
          <p:nvPr/>
        </p:nvSpPr>
        <p:spPr>
          <a:xfrm>
            <a:off x="640080" y="38862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417320" y="3840480"/>
            <a:ext cx="4023360" cy="5486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Pression concurrentielle</a:t>
            </a:r>
            <a:endParaRPr lang="en-US" sz="1600" dirty="0"/>
          </a:p>
        </p:txBody>
      </p:sp>
      <p:sp>
        <p:nvSpPr>
          <p:cNvPr id="15" name="Text 13"/>
          <p:cNvSpPr txBox="1"/>
          <p:nvPr/>
        </p:nvSpPr>
        <p:spPr>
          <a:xfrm>
            <a:off x="5577840" y="3813048"/>
            <a:ext cx="6035040" cy="777240"/>
          </a:xfrm>
          <a:prstGeom prst="rect">
            <a:avLst/>
          </a:prstGeom>
          <a:noFill/>
          <a:ln/>
        </p:spPr>
        <p:txBody>
          <a:bodyPr wrap="square" lIns="0" tIns="0" rIns="0" bIns="0" rtlCol="0" anchor="t"/>
          <a:lstStyle/>
          <a:p>
            <a:pPr marL="0" indent="0">
              <a:buNone/>
            </a:pPr>
            <a:r>
              <a:rPr lang="en-US" sz="1350" dirty="0">
                <a:solidFill>
                  <a:srgbClr val="1A1A2E"/>
                </a:solidFill>
                <a:latin typeface="Calibri" pitchFamily="34" charset="0"/>
                <a:ea typeface="Calibri" pitchFamily="34" charset="-122"/>
                <a:cs typeface="Calibri" pitchFamily="34" charset="-120"/>
              </a:rPr>
              <a:t>Trenitalia et Renfe grignotent des parts de marché sur les axes stratégiques : le prix seul ne suffit plus à différencier la SNCF.</a:t>
            </a:r>
            <a:endParaRPr lang="en-US" sz="1350" dirty="0"/>
          </a:p>
        </p:txBody>
      </p:sp>
      <p:sp>
        <p:nvSpPr>
          <p:cNvPr id="16" name="Shape 14"/>
          <p:cNvSpPr/>
          <p:nvPr/>
        </p:nvSpPr>
        <p:spPr>
          <a:xfrm>
            <a:off x="548640" y="5212080"/>
            <a:ext cx="11064240" cy="960120"/>
          </a:xfrm>
          <a:prstGeom prst="roundRect">
            <a:avLst>
              <a:gd name="adj" fmla="val 7619"/>
            </a:avLst>
          </a:prstGeom>
          <a:solidFill>
            <a:srgbClr val="1E2761"/>
          </a:solidFill>
          <a:ln/>
        </p:spPr>
        <p:txBody>
          <a:bodyPr/>
          <a:lstStyle/>
          <a:p>
            <a:endParaRPr lang="fr-FR"/>
          </a:p>
        </p:txBody>
      </p:sp>
      <p:sp>
        <p:nvSpPr>
          <p:cNvPr id="17" name="Text 15"/>
          <p:cNvSpPr txBox="1"/>
          <p:nvPr/>
        </p:nvSpPr>
        <p:spPr>
          <a:xfrm>
            <a:off x="822960" y="5212080"/>
            <a:ext cx="10515600" cy="96012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Or, une grande partie de ces retards trouve son origine dans des pannes de matériel roulant et d'infrastructure — anticipables par une meilleure exploitation de la donnée.</a:t>
            </a:r>
            <a:endParaRPr lang="en-US" sz="1400" dirty="0"/>
          </a:p>
        </p:txBody>
      </p:sp>
      <p:sp>
        <p:nvSpPr>
          <p:cNvPr id="18" name="Text 16"/>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pic>
        <p:nvPicPr>
          <p:cNvPr id="19" name="Image 18" descr="Logotipo De La Historia De Sncf">
            <a:extLst>
              <a:ext uri="{FF2B5EF4-FFF2-40B4-BE49-F238E27FC236}">
                <a16:creationId xmlns:a16="http://schemas.microsoft.com/office/drawing/2014/main" id="{8B94B3EE-4F50-5ADE-09DE-D9BB306709C5}"/>
              </a:ext>
            </a:extLst>
          </p:cNvPr>
          <p:cNvPicPr>
            <a:picLocks noChangeAspect="1"/>
          </p:cNvPicPr>
          <p:nvPr/>
        </p:nvPicPr>
        <p:blipFill>
          <a:blip r:embed="rId3"/>
          <a:stretch>
            <a:fillRect/>
          </a:stretch>
        </p:blipFill>
        <p:spPr>
          <a:xfrm>
            <a:off x="11557338" y="73342"/>
            <a:ext cx="568284" cy="319660"/>
          </a:xfrm>
          <a:prstGeom prst="rect">
            <a:avLst/>
          </a:prstGeom>
        </p:spPr>
      </p:pic>
      <p:pic>
        <p:nvPicPr>
          <p:cNvPr id="20" name="Image 19" descr="NEXA Digital School - Eureka Éducation">
            <a:extLst>
              <a:ext uri="{FF2B5EF4-FFF2-40B4-BE49-F238E27FC236}">
                <a16:creationId xmlns:a16="http://schemas.microsoft.com/office/drawing/2014/main" id="{A3E224E7-8DE4-5CDD-5F6D-EB1578B42C05}"/>
              </a:ext>
            </a:extLst>
          </p:cNvPr>
          <p:cNvPicPr>
            <a:picLocks noChangeAspect="1"/>
          </p:cNvPicPr>
          <p:nvPr/>
        </p:nvPicPr>
        <p:blipFill>
          <a:blip r:embed="rId4"/>
          <a:stretch>
            <a:fillRect/>
          </a:stretch>
        </p:blipFill>
        <p:spPr>
          <a:xfrm rot="10800000" flipH="1" flipV="1">
            <a:off x="21625" y="6521809"/>
            <a:ext cx="707579" cy="313852"/>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060"/>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02060"/>
          </a:solidFill>
          <a:ln/>
        </p:spPr>
        <p:txBody>
          <a:bodyPr/>
          <a:lstStyle/>
          <a:p>
            <a:endParaRPr lang="fr-FR" dirty="0">
              <a:solidFill>
                <a:schemeClr val="accent1">
                  <a:lumMod val="50000"/>
                </a:schemeClr>
              </a:solidFill>
            </a:endParaRPr>
          </a:p>
        </p:txBody>
      </p:sp>
      <p:sp>
        <p:nvSpPr>
          <p:cNvPr id="3" name="Text 1"/>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2400" b="1" kern="0" spc="200" dirty="0">
                <a:solidFill>
                  <a:srgbClr val="C00000"/>
                </a:solidFill>
                <a:latin typeface="Calibri" pitchFamily="34" charset="0"/>
                <a:ea typeface="Calibri" pitchFamily="34" charset="-122"/>
                <a:cs typeface="Calibri" pitchFamily="34" charset="-120"/>
              </a:rPr>
              <a:t>LA QUESTION CENTRALE</a:t>
            </a:r>
            <a:endParaRPr lang="en-US" sz="2400" b="1" dirty="0">
              <a:solidFill>
                <a:srgbClr val="C00000"/>
              </a:solidFill>
            </a:endParaRPr>
          </a:p>
        </p:txBody>
      </p:sp>
      <p:sp>
        <p:nvSpPr>
          <p:cNvPr id="4" name="Text 2"/>
          <p:cNvSpPr txBox="1"/>
          <p:nvPr/>
        </p:nvSpPr>
        <p:spPr>
          <a:xfrm>
            <a:off x="822960" y="1371600"/>
            <a:ext cx="9144000" cy="54864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La problématique</a:t>
            </a:r>
            <a:endParaRPr lang="en-US" sz="1400" dirty="0"/>
          </a:p>
        </p:txBody>
      </p:sp>
      <p:sp>
        <p:nvSpPr>
          <p:cNvPr id="5" name="Text 3"/>
          <p:cNvSpPr txBox="1"/>
          <p:nvPr/>
        </p:nvSpPr>
        <p:spPr>
          <a:xfrm>
            <a:off x="822960" y="1920240"/>
            <a:ext cx="10241280" cy="2377440"/>
          </a:xfrm>
          <a:prstGeom prst="rect">
            <a:avLst/>
          </a:prstGeom>
          <a:noFill/>
          <a:ln/>
        </p:spPr>
        <p:txBody>
          <a:bodyPr wrap="square" lIns="0" tIns="0" rIns="0" bIns="0" rtlCol="0" anchor="ctr"/>
          <a:lstStyle/>
          <a:p>
            <a:pPr marL="0" indent="0">
              <a:lnSpc>
                <a:spcPct val="120000"/>
              </a:lnSpc>
              <a:buNone/>
            </a:pPr>
            <a:r>
              <a:rPr lang="en-US" sz="2700" b="1" dirty="0">
                <a:solidFill>
                  <a:srgbClr val="FFFFFF"/>
                </a:solidFill>
                <a:latin typeface="Cambria" pitchFamily="34" charset="0"/>
                <a:ea typeface="Cambria" pitchFamily="34" charset="-122"/>
                <a:cs typeface="Cambria" pitchFamily="34" charset="-120"/>
              </a:rPr>
              <a:t>Comment la SNCF peut-elle exploiter ses données opérationnelles et voyageurs pour déployer un système de maintenance prédictive et d'optimisation de l'expérience client, capable de réduire les incidents de service et de renforcer sa compétitivité ?</a:t>
            </a:r>
            <a:endParaRPr lang="en-US" sz="2700" dirty="0"/>
          </a:p>
        </p:txBody>
      </p:sp>
      <p:sp>
        <p:nvSpPr>
          <p:cNvPr id="6" name="Shape 4"/>
          <p:cNvSpPr/>
          <p:nvPr/>
        </p:nvSpPr>
        <p:spPr>
          <a:xfrm>
            <a:off x="822960" y="4663440"/>
            <a:ext cx="1005840" cy="0"/>
          </a:xfrm>
          <a:prstGeom prst="line">
            <a:avLst/>
          </a:prstGeom>
          <a:noFill/>
          <a:ln w="38100">
            <a:solidFill>
              <a:srgbClr val="E2001A"/>
            </a:solidFill>
            <a:prstDash val="solid"/>
          </a:ln>
        </p:spPr>
        <p:txBody>
          <a:bodyPr/>
          <a:lstStyle/>
          <a:p>
            <a:endParaRPr lang="fr-FR"/>
          </a:p>
        </p:txBody>
      </p:sp>
      <p:sp>
        <p:nvSpPr>
          <p:cNvPr id="7" name="Text 5"/>
          <p:cNvSpPr txBox="1"/>
          <p:nvPr/>
        </p:nvSpPr>
        <p:spPr>
          <a:xfrm>
            <a:off x="822960" y="4892040"/>
            <a:ext cx="9875520" cy="1097280"/>
          </a:xfrm>
          <a:prstGeom prst="rect">
            <a:avLst/>
          </a:prstGeom>
          <a:noFill/>
          <a:ln/>
        </p:spPr>
        <p:txBody>
          <a:bodyPr wrap="square" lIns="0" tIns="0" rIns="0" bIns="0" rtlCol="0" anchor="ctr"/>
          <a:lstStyle/>
          <a:p>
            <a:pPr marL="0" indent="0">
              <a:buNone/>
            </a:pPr>
            <a:r>
              <a:rPr lang="en-US" sz="1450" i="1" dirty="0">
                <a:solidFill>
                  <a:srgbClr val="CADCFC"/>
                </a:solidFill>
                <a:latin typeface="Calibri" pitchFamily="34" charset="0"/>
                <a:ea typeface="Calibri" pitchFamily="34" charset="-122"/>
                <a:cs typeface="Calibri" pitchFamily="34" charset="-120"/>
              </a:rPr>
              <a:t>Autrement dit : transformer un actif que la donnée SNCF possède déjà — et que la concurrence ne peut répliquer à court terme — en avantage concurrentiel mesurable.</a:t>
            </a:r>
            <a:endParaRPr lang="en-US" sz="1450" dirty="0"/>
          </a:p>
        </p:txBody>
      </p:sp>
      <p:sp>
        <p:nvSpPr>
          <p:cNvPr id="8" name="Text 6"/>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pic>
        <p:nvPicPr>
          <p:cNvPr id="9" name="Image 8" descr="Logotipo De La Historia De Sncf">
            <a:extLst>
              <a:ext uri="{FF2B5EF4-FFF2-40B4-BE49-F238E27FC236}">
                <a16:creationId xmlns:a16="http://schemas.microsoft.com/office/drawing/2014/main" id="{E289B983-A86B-1999-08CE-7F26405C1DB6}"/>
              </a:ext>
            </a:extLst>
          </p:cNvPr>
          <p:cNvPicPr>
            <a:picLocks noChangeAspect="1"/>
          </p:cNvPicPr>
          <p:nvPr/>
        </p:nvPicPr>
        <p:blipFill>
          <a:blip r:embed="rId3"/>
          <a:stretch>
            <a:fillRect/>
          </a:stretch>
        </p:blipFill>
        <p:spPr>
          <a:xfrm>
            <a:off x="11444757" y="87168"/>
            <a:ext cx="625323" cy="351744"/>
          </a:xfrm>
          <a:prstGeom prst="rect">
            <a:avLst/>
          </a:prstGeom>
        </p:spPr>
      </p:pic>
      <p:pic>
        <p:nvPicPr>
          <p:cNvPr id="11" name="Image 10" descr="NEXA Digital School - Eureka Éducation">
            <a:extLst>
              <a:ext uri="{FF2B5EF4-FFF2-40B4-BE49-F238E27FC236}">
                <a16:creationId xmlns:a16="http://schemas.microsoft.com/office/drawing/2014/main" id="{95CF3561-4E36-B684-4C9B-75BDDA6317A5}"/>
              </a:ext>
            </a:extLst>
          </p:cNvPr>
          <p:cNvPicPr>
            <a:picLocks noChangeAspect="1"/>
          </p:cNvPicPr>
          <p:nvPr/>
        </p:nvPicPr>
        <p:blipFill>
          <a:blip r:embed="rId4"/>
          <a:stretch>
            <a:fillRect/>
          </a:stretch>
        </p:blipFill>
        <p:spPr>
          <a:xfrm rot="10800000" flipH="1" flipV="1">
            <a:off x="21626" y="6492240"/>
            <a:ext cx="774242" cy="343421"/>
          </a:xfrm>
          <a:prstGeom prst="rect">
            <a:avLst/>
          </a:prstGeom>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POURQUOI LA DONNÉE &amp; L'IA</a:t>
            </a:r>
            <a:endParaRPr lang="en-US" sz="1200" dirty="0"/>
          </a:p>
        </p:txBody>
      </p:sp>
      <p:sp>
        <p:nvSpPr>
          <p:cNvPr id="3" name="Text 1"/>
          <p:cNvSpPr txBox="1"/>
          <p:nvPr/>
        </p:nvSpPr>
        <p:spPr>
          <a:xfrm>
            <a:off x="548640" y="1082350"/>
            <a:ext cx="11064240" cy="152089"/>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Trois logiques de maintenance — une seule mobilise vraiment la donnée</a:t>
            </a:r>
            <a:endParaRPr lang="en-US" sz="3000" dirty="0"/>
          </a:p>
        </p:txBody>
      </p:sp>
      <p:sp>
        <p:nvSpPr>
          <p:cNvPr id="4" name="Shape 2"/>
          <p:cNvSpPr/>
          <p:nvPr/>
        </p:nvSpPr>
        <p:spPr>
          <a:xfrm>
            <a:off x="548640" y="1783080"/>
            <a:ext cx="3520440" cy="3840480"/>
          </a:xfrm>
          <a:prstGeom prst="roundRect">
            <a:avLst>
              <a:gd name="adj" fmla="val 2597"/>
            </a:avLst>
          </a:prstGeom>
          <a:solidFill>
            <a:srgbClr val="F7F8FC"/>
          </a:solidFill>
          <a:ln/>
        </p:spPr>
        <p:txBody>
          <a:bodyPr/>
          <a:lstStyle/>
          <a:p>
            <a:endParaRPr lang="fr-FR"/>
          </a:p>
        </p:txBody>
      </p:sp>
      <p:sp>
        <p:nvSpPr>
          <p:cNvPr id="5" name="Shape 3"/>
          <p:cNvSpPr/>
          <p:nvPr/>
        </p:nvSpPr>
        <p:spPr>
          <a:xfrm>
            <a:off x="777240" y="2057400"/>
            <a:ext cx="1371600" cy="384048"/>
          </a:xfrm>
          <a:prstGeom prst="roundRect">
            <a:avLst>
              <a:gd name="adj" fmla="val 14286"/>
            </a:avLst>
          </a:prstGeom>
          <a:solidFill>
            <a:srgbClr val="6B7280"/>
          </a:solidFill>
          <a:ln/>
        </p:spPr>
        <p:txBody>
          <a:bodyPr/>
          <a:lstStyle/>
          <a:p>
            <a:endParaRPr lang="fr-FR"/>
          </a:p>
        </p:txBody>
      </p:sp>
      <p:sp>
        <p:nvSpPr>
          <p:cNvPr id="6" name="Text 4"/>
          <p:cNvSpPr txBox="1"/>
          <p:nvPr/>
        </p:nvSpPr>
        <p:spPr>
          <a:xfrm>
            <a:off x="777240" y="2057400"/>
            <a:ext cx="13716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CORRECTIVE</a:t>
            </a:r>
            <a:endParaRPr lang="en-US" sz="1100" dirty="0"/>
          </a:p>
        </p:txBody>
      </p:sp>
      <p:sp>
        <p:nvSpPr>
          <p:cNvPr id="7" name="Text 5"/>
          <p:cNvSpPr txBox="1"/>
          <p:nvPr/>
        </p:nvSpPr>
        <p:spPr>
          <a:xfrm>
            <a:off x="777240" y="2606040"/>
            <a:ext cx="3063240" cy="457200"/>
          </a:xfrm>
          <a:prstGeom prst="rect">
            <a:avLst/>
          </a:prstGeom>
          <a:noFill/>
          <a:ln/>
        </p:spPr>
        <p:txBody>
          <a:bodyPr wrap="square" lIns="0" tIns="0" rIns="0" bIns="0" rtlCol="0" anchor="ctr"/>
          <a:lstStyle/>
          <a:p>
            <a:pPr marL="0" indent="0">
              <a:buNone/>
            </a:pPr>
            <a:r>
              <a:rPr lang="en-US" sz="1300" i="1" dirty="0">
                <a:solidFill>
                  <a:srgbClr val="1A1A2E"/>
                </a:solidFill>
                <a:latin typeface="Calibri" pitchFamily="34" charset="0"/>
                <a:ea typeface="Calibri" pitchFamily="34" charset="-122"/>
                <a:cs typeface="Calibri" pitchFamily="34" charset="-120"/>
              </a:rPr>
              <a:t>"On répare quand ça casse"</a:t>
            </a:r>
            <a:endParaRPr lang="en-US" sz="1300" dirty="0"/>
          </a:p>
        </p:txBody>
      </p:sp>
      <p:sp>
        <p:nvSpPr>
          <p:cNvPr id="8" name="Text 6"/>
          <p:cNvSpPr txBox="1"/>
          <p:nvPr/>
        </p:nvSpPr>
        <p:spPr>
          <a:xfrm>
            <a:off x="777240" y="3200400"/>
            <a:ext cx="3063240" cy="2103120"/>
          </a:xfrm>
          <a:prstGeom prst="rect">
            <a:avLst/>
          </a:prstGeom>
          <a:noFill/>
          <a:ln/>
        </p:spPr>
        <p:txBody>
          <a:bodyPr wrap="square" lIns="0" tIns="0" rIns="0" bIns="0" rtlCol="0" anchor="t"/>
          <a:lstStyle/>
          <a:p>
            <a:pPr marL="0" indent="0">
              <a:lnSpc>
                <a:spcPct val="120000"/>
              </a:lnSpc>
              <a:buNone/>
            </a:pPr>
            <a:r>
              <a:rPr lang="en-US" sz="1300" dirty="0">
                <a:solidFill>
                  <a:srgbClr val="1A1A2E"/>
                </a:solidFill>
                <a:latin typeface="Calibri" pitchFamily="34" charset="0"/>
                <a:ea typeface="Calibri" pitchFamily="34" charset="-122"/>
                <a:cs typeface="Calibri" pitchFamily="34" charset="-120"/>
              </a:rPr>
              <a:t>Aucune anticipation. La panne est déjà là : l'IA n'a rien à apporter, on subit.</a:t>
            </a:r>
            <a:endParaRPr lang="en-US" sz="1300" dirty="0"/>
          </a:p>
        </p:txBody>
      </p:sp>
      <p:sp>
        <p:nvSpPr>
          <p:cNvPr id="9" name="Shape 7"/>
          <p:cNvSpPr/>
          <p:nvPr/>
        </p:nvSpPr>
        <p:spPr>
          <a:xfrm>
            <a:off x="4297680" y="1783080"/>
            <a:ext cx="3520440" cy="3840480"/>
          </a:xfrm>
          <a:prstGeom prst="roundRect">
            <a:avLst>
              <a:gd name="adj" fmla="val 2597"/>
            </a:avLst>
          </a:prstGeom>
          <a:solidFill>
            <a:srgbClr val="F7F8FC"/>
          </a:solidFill>
          <a:ln/>
        </p:spPr>
        <p:txBody>
          <a:bodyPr/>
          <a:lstStyle/>
          <a:p>
            <a:endParaRPr lang="fr-FR"/>
          </a:p>
        </p:txBody>
      </p:sp>
      <p:sp>
        <p:nvSpPr>
          <p:cNvPr id="10" name="Shape 8"/>
          <p:cNvSpPr/>
          <p:nvPr/>
        </p:nvSpPr>
        <p:spPr>
          <a:xfrm>
            <a:off x="4526280" y="2057400"/>
            <a:ext cx="1371600" cy="384048"/>
          </a:xfrm>
          <a:prstGeom prst="roundRect">
            <a:avLst>
              <a:gd name="adj" fmla="val 14286"/>
            </a:avLst>
          </a:prstGeom>
          <a:solidFill>
            <a:srgbClr val="8B93A8"/>
          </a:solidFill>
          <a:ln/>
        </p:spPr>
        <p:txBody>
          <a:bodyPr/>
          <a:lstStyle/>
          <a:p>
            <a:endParaRPr lang="fr-FR"/>
          </a:p>
        </p:txBody>
      </p:sp>
      <p:sp>
        <p:nvSpPr>
          <p:cNvPr id="11" name="Text 9"/>
          <p:cNvSpPr txBox="1"/>
          <p:nvPr/>
        </p:nvSpPr>
        <p:spPr>
          <a:xfrm>
            <a:off x="4526280" y="2057400"/>
            <a:ext cx="13716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PRÉVENTIVE</a:t>
            </a:r>
            <a:endParaRPr lang="en-US" sz="1100" dirty="0"/>
          </a:p>
        </p:txBody>
      </p:sp>
      <p:sp>
        <p:nvSpPr>
          <p:cNvPr id="12" name="Text 10"/>
          <p:cNvSpPr txBox="1"/>
          <p:nvPr/>
        </p:nvSpPr>
        <p:spPr>
          <a:xfrm>
            <a:off x="4526280" y="2606040"/>
            <a:ext cx="3063240" cy="457200"/>
          </a:xfrm>
          <a:prstGeom prst="rect">
            <a:avLst/>
          </a:prstGeom>
          <a:noFill/>
          <a:ln/>
        </p:spPr>
        <p:txBody>
          <a:bodyPr wrap="square" lIns="0" tIns="0" rIns="0" bIns="0" rtlCol="0" anchor="ctr"/>
          <a:lstStyle/>
          <a:p>
            <a:pPr marL="0" indent="0">
              <a:buNone/>
            </a:pPr>
            <a:r>
              <a:rPr lang="en-US" sz="1300" i="1" dirty="0">
                <a:solidFill>
                  <a:srgbClr val="1A1A2E"/>
                </a:solidFill>
                <a:latin typeface="Calibri" pitchFamily="34" charset="0"/>
                <a:ea typeface="Calibri" pitchFamily="34" charset="-122"/>
                <a:cs typeface="Calibri" pitchFamily="34" charset="-120"/>
              </a:rPr>
              <a:t>"On entretient à intervalles fixes"</a:t>
            </a:r>
            <a:endParaRPr lang="en-US" sz="1300" dirty="0"/>
          </a:p>
        </p:txBody>
      </p:sp>
      <p:sp>
        <p:nvSpPr>
          <p:cNvPr id="13" name="Text 11"/>
          <p:cNvSpPr txBox="1"/>
          <p:nvPr/>
        </p:nvSpPr>
        <p:spPr>
          <a:xfrm>
            <a:off x="4526280" y="3200400"/>
            <a:ext cx="3063240" cy="2103120"/>
          </a:xfrm>
          <a:prstGeom prst="rect">
            <a:avLst/>
          </a:prstGeom>
          <a:noFill/>
          <a:ln/>
        </p:spPr>
        <p:txBody>
          <a:bodyPr wrap="square" lIns="0" tIns="0" rIns="0" bIns="0" rtlCol="0" anchor="t"/>
          <a:lstStyle/>
          <a:p>
            <a:pPr marL="0" indent="0">
              <a:lnSpc>
                <a:spcPct val="120000"/>
              </a:lnSpc>
              <a:buNone/>
            </a:pPr>
            <a:r>
              <a:rPr lang="en-US" sz="1300" dirty="0">
                <a:solidFill>
                  <a:srgbClr val="1A1A2E"/>
                </a:solidFill>
                <a:latin typeface="Calibri" pitchFamily="34" charset="0"/>
                <a:ea typeface="Calibri" pitchFamily="34" charset="-122"/>
                <a:cs typeface="Calibri" pitchFamily="34" charset="-120"/>
              </a:rPr>
              <a:t>Planifiée mais aveugle à l'état réel : pas besoin de données, donc pas d'optimisation possible.</a:t>
            </a:r>
            <a:endParaRPr lang="en-US" sz="1300" dirty="0"/>
          </a:p>
        </p:txBody>
      </p:sp>
      <p:sp>
        <p:nvSpPr>
          <p:cNvPr id="14" name="Shape 12"/>
          <p:cNvSpPr/>
          <p:nvPr/>
        </p:nvSpPr>
        <p:spPr>
          <a:xfrm>
            <a:off x="8046720" y="1783080"/>
            <a:ext cx="3520440" cy="3840480"/>
          </a:xfrm>
          <a:prstGeom prst="roundRect">
            <a:avLst>
              <a:gd name="adj" fmla="val 2597"/>
            </a:avLst>
          </a:prstGeom>
          <a:solidFill>
            <a:srgbClr val="1E2761"/>
          </a:solidFill>
          <a:ln/>
        </p:spPr>
        <p:txBody>
          <a:bodyPr/>
          <a:lstStyle/>
          <a:p>
            <a:endParaRPr lang="fr-FR"/>
          </a:p>
        </p:txBody>
      </p:sp>
      <p:sp>
        <p:nvSpPr>
          <p:cNvPr id="15" name="Shape 13"/>
          <p:cNvSpPr/>
          <p:nvPr/>
        </p:nvSpPr>
        <p:spPr>
          <a:xfrm>
            <a:off x="8275320" y="2057400"/>
            <a:ext cx="1371600" cy="384048"/>
          </a:xfrm>
          <a:prstGeom prst="roundRect">
            <a:avLst>
              <a:gd name="adj" fmla="val 14286"/>
            </a:avLst>
          </a:prstGeom>
          <a:solidFill>
            <a:srgbClr val="E2001A"/>
          </a:solidFill>
          <a:ln/>
        </p:spPr>
        <p:txBody>
          <a:bodyPr/>
          <a:lstStyle/>
          <a:p>
            <a:endParaRPr lang="fr-FR"/>
          </a:p>
        </p:txBody>
      </p:sp>
      <p:sp>
        <p:nvSpPr>
          <p:cNvPr id="16" name="Text 14"/>
          <p:cNvSpPr txBox="1"/>
          <p:nvPr/>
        </p:nvSpPr>
        <p:spPr>
          <a:xfrm>
            <a:off x="8275320" y="2057400"/>
            <a:ext cx="13716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PRÉDICTIVE</a:t>
            </a:r>
            <a:endParaRPr lang="en-US" sz="1100" dirty="0"/>
          </a:p>
        </p:txBody>
      </p:sp>
      <p:sp>
        <p:nvSpPr>
          <p:cNvPr id="17" name="Text 15"/>
          <p:cNvSpPr txBox="1"/>
          <p:nvPr/>
        </p:nvSpPr>
        <p:spPr>
          <a:xfrm>
            <a:off x="8275320" y="2606040"/>
            <a:ext cx="3063240" cy="45720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"On anticipe avant la panne"</a:t>
            </a:r>
            <a:endParaRPr lang="en-US" sz="1300" dirty="0"/>
          </a:p>
        </p:txBody>
      </p:sp>
      <p:sp>
        <p:nvSpPr>
          <p:cNvPr id="18" name="Text 16"/>
          <p:cNvSpPr txBox="1"/>
          <p:nvPr/>
        </p:nvSpPr>
        <p:spPr>
          <a:xfrm>
            <a:off x="8275320" y="3200400"/>
            <a:ext cx="3063240" cy="2103120"/>
          </a:xfrm>
          <a:prstGeom prst="rect">
            <a:avLst/>
          </a:prstGeom>
          <a:noFill/>
          <a:ln/>
        </p:spPr>
        <p:txBody>
          <a:bodyPr wrap="square" lIns="0" tIns="0" rIns="0" bIns="0" rtlCol="0" anchor="t"/>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On utilise l'historique de retards et de régularité pour prédire le risque futur : c'est ici que Data &amp; IA créent de la valeur.</a:t>
            </a:r>
            <a:endParaRPr lang="en-US" sz="1300" dirty="0"/>
          </a:p>
        </p:txBody>
      </p:sp>
      <p:sp>
        <p:nvSpPr>
          <p:cNvPr id="19" name="Text 17"/>
          <p:cNvSpPr txBox="1"/>
          <p:nvPr/>
        </p:nvSpPr>
        <p:spPr>
          <a:xfrm>
            <a:off x="8275320" y="5120640"/>
            <a:ext cx="3063240" cy="320040"/>
          </a:xfrm>
          <a:prstGeom prst="rect">
            <a:avLst/>
          </a:prstGeom>
          <a:noFill/>
          <a:ln/>
        </p:spPr>
        <p:txBody>
          <a:bodyPr wrap="square" lIns="0" tIns="0" rIns="0" bIns="0" rtlCol="0" anchor="ctr"/>
          <a:lstStyle/>
          <a:p>
            <a:pPr marL="0" indent="0">
              <a:buNone/>
            </a:pPr>
            <a:r>
              <a:rPr lang="en-US" sz="1100" b="1" dirty="0">
                <a:solidFill>
                  <a:srgbClr val="E2001A"/>
                </a:solidFill>
                <a:latin typeface="Calibri" pitchFamily="34" charset="0"/>
                <a:ea typeface="Calibri" pitchFamily="34" charset="-122"/>
                <a:cs typeface="Calibri" pitchFamily="34" charset="-120"/>
              </a:rPr>
              <a:t>← NOTRE APPROCHE</a:t>
            </a:r>
            <a:endParaRPr lang="en-US" sz="1100" dirty="0"/>
          </a:p>
        </p:txBody>
      </p:sp>
      <p:sp>
        <p:nvSpPr>
          <p:cNvPr id="20" name="Text 18"/>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pic>
        <p:nvPicPr>
          <p:cNvPr id="21" name="Image 20" descr="Logotipo De La Historia De Sncf">
            <a:extLst>
              <a:ext uri="{FF2B5EF4-FFF2-40B4-BE49-F238E27FC236}">
                <a16:creationId xmlns:a16="http://schemas.microsoft.com/office/drawing/2014/main" id="{263241CA-12D5-CEA6-5C8F-D1854269D801}"/>
              </a:ext>
            </a:extLst>
          </p:cNvPr>
          <p:cNvPicPr>
            <a:picLocks noChangeAspect="1"/>
          </p:cNvPicPr>
          <p:nvPr/>
        </p:nvPicPr>
        <p:blipFill>
          <a:blip r:embed="rId3"/>
          <a:stretch>
            <a:fillRect/>
          </a:stretch>
        </p:blipFill>
        <p:spPr>
          <a:xfrm>
            <a:off x="11567160" y="91440"/>
            <a:ext cx="430418" cy="242110"/>
          </a:xfrm>
          <a:prstGeom prst="rect">
            <a:avLst/>
          </a:prstGeom>
        </p:spPr>
      </p:pic>
      <p:pic>
        <p:nvPicPr>
          <p:cNvPr id="23" name="Image 22" descr="NEXA Digital School - Eureka Éducation">
            <a:extLst>
              <a:ext uri="{FF2B5EF4-FFF2-40B4-BE49-F238E27FC236}">
                <a16:creationId xmlns:a16="http://schemas.microsoft.com/office/drawing/2014/main" id="{7A47D2C7-45E2-4374-36CD-16955733597D}"/>
              </a:ext>
            </a:extLst>
          </p:cNvPr>
          <p:cNvPicPr>
            <a:picLocks noChangeAspect="1"/>
          </p:cNvPicPr>
          <p:nvPr/>
        </p:nvPicPr>
        <p:blipFill>
          <a:blip r:embed="rId4"/>
          <a:stretch>
            <a:fillRect/>
          </a:stretch>
        </p:blipFill>
        <p:spPr>
          <a:xfrm rot="10800000" flipH="1" flipV="1">
            <a:off x="21626" y="6492240"/>
            <a:ext cx="774242" cy="3434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LA SOLUTION</a:t>
            </a:r>
            <a:endParaRPr lang="en-US" sz="1200" dirty="0"/>
          </a:p>
        </p:txBody>
      </p:sp>
      <p:sp>
        <p:nvSpPr>
          <p:cNvPr id="3" name="Text 1"/>
          <p:cNvSpPr txBox="1"/>
          <p:nvPr/>
        </p:nvSpPr>
        <p:spPr>
          <a:xfrm>
            <a:off x="548640" y="667512"/>
            <a:ext cx="1106424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Un système de Data Intelligence ferroviaire en 3 modules</a:t>
            </a:r>
            <a:endParaRPr lang="en-US" sz="3000" dirty="0"/>
          </a:p>
        </p:txBody>
      </p:sp>
      <p:sp>
        <p:nvSpPr>
          <p:cNvPr id="4" name="Shape 2"/>
          <p:cNvSpPr/>
          <p:nvPr/>
        </p:nvSpPr>
        <p:spPr>
          <a:xfrm>
            <a:off x="548640" y="1828800"/>
            <a:ext cx="11064240" cy="1234440"/>
          </a:xfrm>
          <a:prstGeom prst="roundRect">
            <a:avLst>
              <a:gd name="adj" fmla="val 5926"/>
            </a:avLst>
          </a:prstGeom>
          <a:solidFill>
            <a:srgbClr val="F7F8FC"/>
          </a:solidFill>
          <a:ln/>
        </p:spPr>
        <p:txBody>
          <a:bodyPr/>
          <a:lstStyle/>
          <a:p>
            <a:endParaRPr lang="fr-FR"/>
          </a:p>
        </p:txBody>
      </p:sp>
      <p:sp>
        <p:nvSpPr>
          <p:cNvPr id="5" name="Shape 3"/>
          <p:cNvSpPr/>
          <p:nvPr/>
        </p:nvSpPr>
        <p:spPr>
          <a:xfrm>
            <a:off x="868680" y="2194560"/>
            <a:ext cx="502920" cy="502920"/>
          </a:xfrm>
          <a:prstGeom prst="ellipse">
            <a:avLst/>
          </a:prstGeom>
          <a:solidFill>
            <a:srgbClr val="1E2761"/>
          </a:solidFill>
          <a:ln/>
        </p:spPr>
        <p:txBody>
          <a:bodyPr/>
          <a:lstStyle/>
          <a:p>
            <a:endParaRPr lang="fr-FR"/>
          </a:p>
        </p:txBody>
      </p:sp>
      <p:sp>
        <p:nvSpPr>
          <p:cNvPr id="6" name="Text 4"/>
          <p:cNvSpPr txBox="1"/>
          <p:nvPr/>
        </p:nvSpPr>
        <p:spPr>
          <a:xfrm>
            <a:off x="868680" y="2194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691640" y="1993392"/>
            <a:ext cx="3840480" cy="86868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Maintenance prédictive</a:t>
            </a:r>
            <a:endParaRPr lang="en-US" sz="1700" dirty="0"/>
          </a:p>
        </p:txBody>
      </p:sp>
      <p:sp>
        <p:nvSpPr>
          <p:cNvPr id="8" name="Text 6"/>
          <p:cNvSpPr txBox="1"/>
          <p:nvPr/>
        </p:nvSpPr>
        <p:spPr>
          <a:xfrm>
            <a:off x="5669280" y="1993392"/>
            <a:ext cx="5760720" cy="8686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Anticiper les défaillances du matériel roulant et de l'infrastructure à partir des historiques de pannes et de retards.</a:t>
            </a:r>
            <a:endParaRPr lang="en-US" sz="1300" dirty="0"/>
          </a:p>
        </p:txBody>
      </p:sp>
      <p:sp>
        <p:nvSpPr>
          <p:cNvPr id="9" name="Shape 7"/>
          <p:cNvSpPr/>
          <p:nvPr/>
        </p:nvSpPr>
        <p:spPr>
          <a:xfrm>
            <a:off x="548640" y="3291840"/>
            <a:ext cx="11064240" cy="1234440"/>
          </a:xfrm>
          <a:prstGeom prst="roundRect">
            <a:avLst>
              <a:gd name="adj" fmla="val 5926"/>
            </a:avLst>
          </a:prstGeom>
          <a:solidFill>
            <a:srgbClr val="F7F8FC"/>
          </a:solidFill>
          <a:ln/>
        </p:spPr>
        <p:txBody>
          <a:bodyPr/>
          <a:lstStyle/>
          <a:p>
            <a:endParaRPr lang="fr-FR"/>
          </a:p>
        </p:txBody>
      </p:sp>
      <p:sp>
        <p:nvSpPr>
          <p:cNvPr id="10" name="Shape 8"/>
          <p:cNvSpPr/>
          <p:nvPr/>
        </p:nvSpPr>
        <p:spPr>
          <a:xfrm>
            <a:off x="868680" y="3657600"/>
            <a:ext cx="502920" cy="502920"/>
          </a:xfrm>
          <a:prstGeom prst="ellipse">
            <a:avLst/>
          </a:prstGeom>
          <a:solidFill>
            <a:srgbClr val="1E2761"/>
          </a:solidFill>
          <a:ln/>
        </p:spPr>
        <p:txBody>
          <a:bodyPr/>
          <a:lstStyle/>
          <a:p>
            <a:endParaRPr lang="fr-FR"/>
          </a:p>
        </p:txBody>
      </p:sp>
      <p:sp>
        <p:nvSpPr>
          <p:cNvPr id="11" name="Text 9"/>
          <p:cNvSpPr txBox="1"/>
          <p:nvPr/>
        </p:nvSpPr>
        <p:spPr>
          <a:xfrm>
            <a:off x="868680" y="36576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691640" y="3456432"/>
            <a:ext cx="3840480" cy="86868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Ponctualité en temps réel</a:t>
            </a:r>
            <a:endParaRPr lang="en-US" sz="1700" dirty="0"/>
          </a:p>
        </p:txBody>
      </p:sp>
      <p:sp>
        <p:nvSpPr>
          <p:cNvPr id="13" name="Text 11"/>
          <p:cNvSpPr txBox="1"/>
          <p:nvPr/>
        </p:nvSpPr>
        <p:spPr>
          <a:xfrm>
            <a:off x="5669280" y="3456432"/>
            <a:ext cx="5760720" cy="8686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Modéliser les cascades de retards pour proposer des mesures correctives avant que l'incident ne se propage.</a:t>
            </a:r>
            <a:endParaRPr lang="en-US" sz="1300" dirty="0"/>
          </a:p>
        </p:txBody>
      </p:sp>
      <p:sp>
        <p:nvSpPr>
          <p:cNvPr id="14" name="Shape 12"/>
          <p:cNvSpPr/>
          <p:nvPr/>
        </p:nvSpPr>
        <p:spPr>
          <a:xfrm>
            <a:off x="548640" y="4754880"/>
            <a:ext cx="11064240" cy="1234440"/>
          </a:xfrm>
          <a:prstGeom prst="roundRect">
            <a:avLst>
              <a:gd name="adj" fmla="val 5926"/>
            </a:avLst>
          </a:prstGeom>
          <a:solidFill>
            <a:srgbClr val="F7F8FC"/>
          </a:solidFill>
          <a:ln/>
        </p:spPr>
        <p:txBody>
          <a:bodyPr/>
          <a:lstStyle/>
          <a:p>
            <a:endParaRPr lang="fr-FR"/>
          </a:p>
        </p:txBody>
      </p:sp>
      <p:sp>
        <p:nvSpPr>
          <p:cNvPr id="15" name="Shape 13"/>
          <p:cNvSpPr/>
          <p:nvPr/>
        </p:nvSpPr>
        <p:spPr>
          <a:xfrm>
            <a:off x="868680" y="5120640"/>
            <a:ext cx="502920" cy="502920"/>
          </a:xfrm>
          <a:prstGeom prst="ellipse">
            <a:avLst/>
          </a:prstGeom>
          <a:solidFill>
            <a:srgbClr val="1E2761"/>
          </a:solidFill>
          <a:ln/>
        </p:spPr>
        <p:txBody>
          <a:bodyPr/>
          <a:lstStyle/>
          <a:p>
            <a:endParaRPr lang="fr-FR"/>
          </a:p>
        </p:txBody>
      </p:sp>
      <p:sp>
        <p:nvSpPr>
          <p:cNvPr id="16" name="Text 14"/>
          <p:cNvSpPr txBox="1"/>
          <p:nvPr/>
        </p:nvSpPr>
        <p:spPr>
          <a:xfrm>
            <a:off x="868680" y="51206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691640" y="4919472"/>
            <a:ext cx="3840480" cy="86868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Expérience voyageur</a:t>
            </a:r>
            <a:endParaRPr lang="en-US" sz="1700" dirty="0"/>
          </a:p>
        </p:txBody>
      </p:sp>
      <p:sp>
        <p:nvSpPr>
          <p:cNvPr id="18" name="Text 16"/>
          <p:cNvSpPr txBox="1"/>
          <p:nvPr/>
        </p:nvSpPr>
        <p:spPr>
          <a:xfrm>
            <a:off x="5669280" y="4919472"/>
            <a:ext cx="5760720" cy="8686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Personnaliser SNCF Connect (alertes, offres ciblées) pour transformer la fiabilité perçue en fidélisation.</a:t>
            </a:r>
            <a:endParaRPr lang="en-US" sz="1300" dirty="0"/>
          </a:p>
        </p:txBody>
      </p:sp>
      <p:sp>
        <p:nvSpPr>
          <p:cNvPr id="19" name="Text 17"/>
          <p:cNvSpPr txBox="1"/>
          <p:nvPr/>
        </p:nvSpPr>
        <p:spPr>
          <a:xfrm>
            <a:off x="548640" y="6263640"/>
            <a:ext cx="10058400" cy="32004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Aujourd'hui : preuve de concept sur le Module 1, socle des deux autres.</a:t>
            </a:r>
            <a:endParaRPr lang="en-US" sz="1250" dirty="0"/>
          </a:p>
        </p:txBody>
      </p:sp>
      <p:sp>
        <p:nvSpPr>
          <p:cNvPr id="20" name="Text 18"/>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pic>
        <p:nvPicPr>
          <p:cNvPr id="21" name="Image 20" descr="Logotipo De La Historia De Sncf">
            <a:extLst>
              <a:ext uri="{FF2B5EF4-FFF2-40B4-BE49-F238E27FC236}">
                <a16:creationId xmlns:a16="http://schemas.microsoft.com/office/drawing/2014/main" id="{2EF3CF42-0FF2-CC79-3DDC-7435E5043A9A}"/>
              </a:ext>
            </a:extLst>
          </p:cNvPr>
          <p:cNvPicPr>
            <a:picLocks noChangeAspect="1"/>
          </p:cNvPicPr>
          <p:nvPr/>
        </p:nvPicPr>
        <p:blipFill>
          <a:blip r:embed="rId3"/>
          <a:stretch>
            <a:fillRect/>
          </a:stretch>
        </p:blipFill>
        <p:spPr>
          <a:xfrm>
            <a:off x="11643360" y="91440"/>
            <a:ext cx="467329" cy="262872"/>
          </a:xfrm>
          <a:prstGeom prst="rect">
            <a:avLst/>
          </a:prstGeom>
        </p:spPr>
      </p:pic>
      <p:pic>
        <p:nvPicPr>
          <p:cNvPr id="23" name="Image 22" descr="NEXA Digital School - Eureka Éducation">
            <a:extLst>
              <a:ext uri="{FF2B5EF4-FFF2-40B4-BE49-F238E27FC236}">
                <a16:creationId xmlns:a16="http://schemas.microsoft.com/office/drawing/2014/main" id="{49E2CF65-4838-6657-5BE0-0972DF88229E}"/>
              </a:ext>
            </a:extLst>
          </p:cNvPr>
          <p:cNvPicPr>
            <a:picLocks noChangeAspect="1"/>
          </p:cNvPicPr>
          <p:nvPr/>
        </p:nvPicPr>
        <p:blipFill>
          <a:blip r:embed="rId4"/>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LES DONNÉES</a:t>
            </a:r>
            <a:endParaRPr lang="en-US" sz="1200" dirty="0"/>
          </a:p>
        </p:txBody>
      </p:sp>
      <p:sp>
        <p:nvSpPr>
          <p:cNvPr id="3" name="Text 1"/>
          <p:cNvSpPr txBox="1"/>
          <p:nvPr/>
        </p:nvSpPr>
        <p:spPr>
          <a:xfrm>
            <a:off x="548640" y="576072"/>
            <a:ext cx="11064240" cy="658368"/>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Ce que l'open data </a:t>
            </a:r>
            <a:r>
              <a:rPr lang="en-US" sz="3000" b="1" dirty="0" err="1">
                <a:solidFill>
                  <a:srgbClr val="1E2761"/>
                </a:solidFill>
                <a:latin typeface="Cambria" pitchFamily="34" charset="0"/>
                <a:ea typeface="Cambria" pitchFamily="34" charset="-122"/>
                <a:cs typeface="Cambria" pitchFamily="34" charset="-120"/>
              </a:rPr>
              <a:t>permet</a:t>
            </a:r>
            <a:r>
              <a:rPr lang="en-US" sz="3000" b="1" dirty="0">
                <a:solidFill>
                  <a:srgbClr val="1E2761"/>
                </a:solidFill>
                <a:latin typeface="Cambria" pitchFamily="34" charset="0"/>
                <a:ea typeface="Cambria" pitchFamily="34" charset="-122"/>
                <a:cs typeface="Cambria" pitchFamily="34" charset="-120"/>
              </a:rPr>
              <a:t>  et où sont ses limites</a:t>
            </a:r>
            <a:endParaRPr lang="en-US" sz="3000" dirty="0"/>
          </a:p>
        </p:txBody>
      </p:sp>
      <p:sp>
        <p:nvSpPr>
          <p:cNvPr id="4" name="Shape 2"/>
          <p:cNvSpPr/>
          <p:nvPr/>
        </p:nvSpPr>
        <p:spPr>
          <a:xfrm>
            <a:off x="548640" y="1737360"/>
            <a:ext cx="5349240" cy="4160520"/>
          </a:xfrm>
          <a:prstGeom prst="roundRect">
            <a:avLst>
              <a:gd name="adj" fmla="val 1758"/>
            </a:avLst>
          </a:prstGeom>
          <a:solidFill>
            <a:srgbClr val="F7F8FC"/>
          </a:solidFill>
          <a:ln/>
        </p:spPr>
        <p:txBody>
          <a:bodyPr/>
          <a:lstStyle/>
          <a:p>
            <a:endParaRPr lang="fr-FR"/>
          </a:p>
        </p:txBody>
      </p:sp>
      <p:sp>
        <p:nvSpPr>
          <p:cNvPr id="5" name="Text 3"/>
          <p:cNvSpPr txBox="1"/>
          <p:nvPr/>
        </p:nvSpPr>
        <p:spPr>
          <a:xfrm>
            <a:off x="868680" y="1965960"/>
            <a:ext cx="4572000" cy="320040"/>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CE QUE J'AI UTILISÉ</a:t>
            </a:r>
            <a:endParaRPr lang="en-US" sz="1200" dirty="0"/>
          </a:p>
        </p:txBody>
      </p:sp>
      <p:sp>
        <p:nvSpPr>
          <p:cNvPr id="6" name="Text 4"/>
          <p:cNvSpPr txBox="1"/>
          <p:nvPr/>
        </p:nvSpPr>
        <p:spPr>
          <a:xfrm>
            <a:off x="868680" y="2423160"/>
            <a:ext cx="4754880" cy="329184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3 jeux open data SNCF (15 337 lignes) : régularité nationale, régularité par liaison, fréquentation gares</a:t>
            </a:r>
            <a:endParaRPr lang="en-US" sz="1350" dirty="0"/>
          </a:p>
          <a:p>
            <a:pPr marL="342900" indent="-342900">
              <a:lnSpc>
                <a:spcPct val="125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Granularité mensuelle, par liaison — agrégée</a:t>
            </a:r>
            <a:endParaRPr lang="en-US" sz="1350" dirty="0"/>
          </a:p>
          <a:p>
            <a:pPr marL="342900" indent="-342900">
              <a:lnSpc>
                <a:spcPct val="125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Suffisant pour mesurer la tendance globale de régularité</a:t>
            </a:r>
            <a:endParaRPr lang="en-US" sz="1350" dirty="0"/>
          </a:p>
          <a:p>
            <a:pPr marL="342900" indent="-342900">
              <a:lnSpc>
                <a:spcPct val="125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Insuffisant pour identifier la cause précise d'une panne</a:t>
            </a:r>
            <a:endParaRPr lang="en-US" sz="1350" dirty="0"/>
          </a:p>
        </p:txBody>
      </p:sp>
      <p:sp>
        <p:nvSpPr>
          <p:cNvPr id="7" name="Shape 5"/>
          <p:cNvSpPr/>
          <p:nvPr/>
        </p:nvSpPr>
        <p:spPr>
          <a:xfrm>
            <a:off x="6080760" y="1737360"/>
            <a:ext cx="5532120" cy="4160520"/>
          </a:xfrm>
          <a:prstGeom prst="roundRect">
            <a:avLst>
              <a:gd name="adj" fmla="val 1758"/>
            </a:avLst>
          </a:prstGeom>
          <a:solidFill>
            <a:srgbClr val="1E2761"/>
          </a:solidFill>
          <a:ln/>
        </p:spPr>
        <p:txBody>
          <a:bodyPr/>
          <a:lstStyle/>
          <a:p>
            <a:endParaRPr lang="fr-FR"/>
          </a:p>
        </p:txBody>
      </p:sp>
      <p:sp>
        <p:nvSpPr>
          <p:cNvPr id="8" name="Text 6"/>
          <p:cNvSpPr txBox="1"/>
          <p:nvPr/>
        </p:nvSpPr>
        <p:spPr>
          <a:xfrm>
            <a:off x="6400800" y="1965960"/>
            <a:ext cx="4937760" cy="320040"/>
          </a:xfrm>
          <a:prstGeom prst="rect">
            <a:avLst/>
          </a:prstGeom>
          <a:noFill/>
          <a:ln/>
        </p:spPr>
        <p:txBody>
          <a:bodyPr wrap="square" lIns="0" tIns="0" rIns="0" bIns="0" rtlCol="0" anchor="ctr"/>
          <a:lstStyle/>
          <a:p>
            <a:pPr marL="0" indent="0">
              <a:buNone/>
            </a:pPr>
            <a:r>
              <a:rPr lang="en-US" sz="1200" b="1" kern="0" spc="150" dirty="0">
                <a:solidFill>
                  <a:srgbClr val="CADCFC"/>
                </a:solidFill>
                <a:latin typeface="Calibri" pitchFamily="34" charset="0"/>
                <a:ea typeface="Calibri" pitchFamily="34" charset="-122"/>
                <a:cs typeface="Calibri" pitchFamily="34" charset="-120"/>
              </a:rPr>
              <a:t>CE QU'IL FAUDRAIT EN PRODUCTION</a:t>
            </a:r>
            <a:endParaRPr lang="en-US" sz="1200" dirty="0"/>
          </a:p>
        </p:txBody>
      </p:sp>
      <p:sp>
        <p:nvSpPr>
          <p:cNvPr id="9" name="Text 7"/>
          <p:cNvSpPr txBox="1"/>
          <p:nvPr/>
        </p:nvSpPr>
        <p:spPr>
          <a:xfrm>
            <a:off x="6400800" y="2423160"/>
            <a:ext cx="4937760" cy="329184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Âge des équipements → analyse prédictive de l'usure</a:t>
            </a:r>
            <a:endParaRPr lang="en-US" sz="1350" dirty="0"/>
          </a:p>
          <a:p>
            <a:pPr marL="342900" indent="-342900">
              <a:lnSpc>
                <a:spcPct val="12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Kilométrage de chaque rame → risque cumulé</a:t>
            </a:r>
            <a:endParaRPr lang="en-US" sz="1350" dirty="0"/>
          </a:p>
          <a:p>
            <a:pPr marL="342900" indent="-342900">
              <a:lnSpc>
                <a:spcPct val="12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Vibrations en temps réel → signal avant-coureur direct de panne</a:t>
            </a:r>
            <a:endParaRPr lang="en-US" sz="1350" dirty="0"/>
          </a:p>
          <a:p>
            <a:pPr marL="342900" indent="-342900">
              <a:lnSpc>
                <a:spcPct val="125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Historique détaillé des réparations par équipement</a:t>
            </a:r>
            <a:endParaRPr lang="en-US" sz="1350" dirty="0"/>
          </a:p>
        </p:txBody>
      </p:sp>
      <p:sp>
        <p:nvSpPr>
          <p:cNvPr id="10" name="Text 8"/>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pic>
        <p:nvPicPr>
          <p:cNvPr id="11" name="Image 10" descr="Logotipo De La Historia De Sncf">
            <a:extLst>
              <a:ext uri="{FF2B5EF4-FFF2-40B4-BE49-F238E27FC236}">
                <a16:creationId xmlns:a16="http://schemas.microsoft.com/office/drawing/2014/main" id="{08BADAE8-1D95-50E8-EC65-60AAA5838759}"/>
              </a:ext>
            </a:extLst>
          </p:cNvPr>
          <p:cNvPicPr>
            <a:picLocks noChangeAspect="1"/>
          </p:cNvPicPr>
          <p:nvPr/>
        </p:nvPicPr>
        <p:blipFill>
          <a:blip r:embed="rId3"/>
          <a:stretch>
            <a:fillRect/>
          </a:stretch>
        </p:blipFill>
        <p:spPr>
          <a:xfrm>
            <a:off x="11406110" y="115010"/>
            <a:ext cx="663970" cy="373483"/>
          </a:xfrm>
          <a:prstGeom prst="rect">
            <a:avLst/>
          </a:prstGeom>
        </p:spPr>
      </p:pic>
      <p:pic>
        <p:nvPicPr>
          <p:cNvPr id="13" name="Image 12" descr="NEXA Digital School - Eureka Éducation">
            <a:extLst>
              <a:ext uri="{FF2B5EF4-FFF2-40B4-BE49-F238E27FC236}">
                <a16:creationId xmlns:a16="http://schemas.microsoft.com/office/drawing/2014/main" id="{77CB524A-D9F2-457F-FB26-224EBF67C0B9}"/>
              </a:ext>
            </a:extLst>
          </p:cNvPr>
          <p:cNvPicPr>
            <a:picLocks noChangeAspect="1"/>
          </p:cNvPicPr>
          <p:nvPr/>
        </p:nvPicPr>
        <p:blipFill>
          <a:blip r:embed="rId4"/>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CHOIX MÉTHODOLOGIQUE</a:t>
            </a:r>
            <a:endParaRPr lang="en-US" sz="1200" dirty="0"/>
          </a:p>
        </p:txBody>
      </p:sp>
      <p:sp>
        <p:nvSpPr>
          <p:cNvPr id="3" name="Text 1"/>
          <p:cNvSpPr txBox="1"/>
          <p:nvPr/>
        </p:nvSpPr>
        <p:spPr>
          <a:xfrm>
            <a:off x="548640" y="709126"/>
            <a:ext cx="11064240" cy="525313"/>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Pourquoi deux modèles, et pourquoi ceux-là</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4297680"/>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859536">
                <a:tc>
                  <a:txBody>
                    <a:bodyPr/>
                    <a:lstStyle/>
                    <a:p>
                      <a:pPr marL="0" indent="0">
                        <a:buNone/>
                      </a:pPr>
                      <a:endParaRPr lang="en-US" sz="120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Cambria" pitchFamily="34" charset="0"/>
                          <a:ea typeface="Cambria" pitchFamily="34" charset="-122"/>
                          <a:cs typeface="Cambria" pitchFamily="34" charset="-120"/>
                        </a:rPr>
                        <a:t>Random Forest</a:t>
                      </a:r>
                      <a:endParaRPr lang="en-US" sz="1400" dirty="0">
                        <a:latin typeface="Cambria" charset="0"/>
                        <a:ea typeface="Cambria" charset="0"/>
                        <a:cs typeface="Cambria"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mbria" pitchFamily="34" charset="0"/>
                          <a:ea typeface="Cambria" pitchFamily="34" charset="-122"/>
                          <a:cs typeface="Cambria" pitchFamily="34" charset="-120"/>
                        </a:rPr>
                        <a:t>LSTM</a:t>
                      </a:r>
                      <a:endParaRPr lang="en-US" sz="1400" dirty="0">
                        <a:latin typeface="Cambria" charset="0"/>
                        <a:ea typeface="Cambria" charset="0"/>
                        <a:cs typeface="Cambria"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solidFill>
                      <a:srgbClr val="E2001A"/>
                    </a:solidFill>
                  </a:tcPr>
                </a:tc>
                <a:extLst>
                  <a:ext uri="{0D108BD9-81ED-4DB2-BD59-A6C34878D82A}">
                    <a16:rowId xmlns:a16="http://schemas.microsoft.com/office/drawing/2014/main" val="10000"/>
                  </a:ext>
                </a:extLst>
              </a:tr>
              <a:tr h="859536">
                <a:tc>
                  <a:txBody>
                    <a:bodyPr/>
                    <a:lstStyle/>
                    <a:p>
                      <a:pPr marL="0" indent="0">
                        <a:buNone/>
                      </a:pPr>
                      <a:r>
                        <a:rPr lang="en-US" sz="1250" b="1" dirty="0">
                          <a:solidFill>
                            <a:srgbClr val="1E2761"/>
                          </a:solidFill>
                          <a:latin typeface="Calibri" pitchFamily="34" charset="0"/>
                          <a:ea typeface="Calibri" pitchFamily="34" charset="-122"/>
                          <a:cs typeface="Calibri" pitchFamily="34" charset="-120"/>
                        </a:rPr>
                        <a:t>Nature du problème</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Classification tabulaire, sans ordre temporel</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Série temporelle, où l'ordre et la mémoire comptent</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extLst>
                  <a:ext uri="{0D108BD9-81ED-4DB2-BD59-A6C34878D82A}">
                    <a16:rowId xmlns:a16="http://schemas.microsoft.com/office/drawing/2014/main" val="10001"/>
                  </a:ext>
                </a:extLst>
              </a:tr>
              <a:tr h="859536">
                <a:tc>
                  <a:txBody>
                    <a:bodyPr/>
                    <a:lstStyle/>
                    <a:p>
                      <a:pPr marL="0" indent="0">
                        <a:buNone/>
                      </a:pPr>
                      <a:r>
                        <a:rPr lang="en-US" sz="1250" b="1" dirty="0">
                          <a:solidFill>
                            <a:srgbClr val="1E2761"/>
                          </a:solidFill>
                          <a:latin typeface="Calibri" pitchFamily="34" charset="0"/>
                          <a:ea typeface="Calibri" pitchFamily="34" charset="-122"/>
                          <a:cs typeface="Calibri" pitchFamily="34" charset="-120"/>
                        </a:rPr>
                        <a:t>Pourquoi ce choix</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Capture les relations non linéaires, résiste au sur-apprentissage, donne l'importance des variables (interprétable)</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Mémoire cellulaire : retient la saisonnalité sur 12 mois, ce qu'un modèle tabulaire ne peut pas voir</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extLst>
                  <a:ext uri="{0D108BD9-81ED-4DB2-BD59-A6C34878D82A}">
                    <a16:rowId xmlns:a16="http://schemas.microsoft.com/office/drawing/2014/main" val="10002"/>
                  </a:ext>
                </a:extLst>
              </a:tr>
              <a:tr h="859536">
                <a:tc>
                  <a:txBody>
                    <a:bodyPr/>
                    <a:lstStyle/>
                    <a:p>
                      <a:pPr marL="0" indent="0">
                        <a:buNone/>
                      </a:pPr>
                      <a:r>
                        <a:rPr lang="en-US" sz="1250" b="1" dirty="0">
                          <a:solidFill>
                            <a:srgbClr val="1E2761"/>
                          </a:solidFill>
                          <a:latin typeface="Calibri" pitchFamily="34" charset="0"/>
                          <a:ea typeface="Calibri" pitchFamily="34" charset="-122"/>
                          <a:cs typeface="Calibri" pitchFamily="34" charset="-120"/>
                        </a:rPr>
                        <a:t>Écarté à la place</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Régression logistique (trop linéaire), Gradient Boosting (moins lisible)</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ARIMA classique (ne capture pas les dépendances non linéaires longues)</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extLst>
                  <a:ext uri="{0D108BD9-81ED-4DB2-BD59-A6C34878D82A}">
                    <a16:rowId xmlns:a16="http://schemas.microsoft.com/office/drawing/2014/main" val="10003"/>
                  </a:ext>
                </a:extLst>
              </a:tr>
              <a:tr h="859536">
                <a:tc>
                  <a:txBody>
                    <a:bodyPr/>
                    <a:lstStyle/>
                    <a:p>
                      <a:pPr marL="0" indent="0">
                        <a:buNone/>
                      </a:pPr>
                      <a:r>
                        <a:rPr lang="en-US" sz="1250" b="1" dirty="0">
                          <a:solidFill>
                            <a:srgbClr val="1E2761"/>
                          </a:solidFill>
                          <a:latin typeface="Calibri" pitchFamily="34" charset="0"/>
                          <a:ea typeface="Calibri" pitchFamily="34" charset="-122"/>
                          <a:cs typeface="Calibri" pitchFamily="34" charset="-120"/>
                        </a:rPr>
                        <a:t>Validation</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Validation croisée 5-fold, variance ±0,006 → modèle stable</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Early stopping (13/100 époques), val_loss minimale à l'époque 3</a:t>
                      </a:r>
                      <a:endParaRPr lang="en-US" sz="1250" dirty="0">
                        <a:latin typeface="Calibri" charset="0"/>
                        <a:ea typeface="Calibri" charset="0"/>
                        <a:cs typeface="Calibri" charset="0"/>
                      </a:endParaRPr>
                    </a:p>
                  </a:txBody>
                  <a:tcPr anchor="ctr">
                    <a:lnL w="12700" cap="flat" cmpd="sng" algn="ctr">
                      <a:solidFill>
                        <a:srgbClr val="E2E5F0"/>
                      </a:solidFill>
                      <a:prstDash val="solid"/>
                      <a:round/>
                      <a:headEnd type="none" w="med" len="med"/>
                      <a:tailEnd type="none" w="med" len="med"/>
                    </a:lnL>
                    <a:lnR w="12700" cap="flat" cmpd="sng" algn="ctr">
                      <a:solidFill>
                        <a:srgbClr val="E2E5F0"/>
                      </a:solidFill>
                      <a:prstDash val="solid"/>
                      <a:round/>
                      <a:headEnd type="none" w="med" len="med"/>
                      <a:tailEnd type="none" w="med" len="med"/>
                    </a:lnR>
                    <a:lnT w="12700" cap="flat" cmpd="sng" algn="ctr">
                      <a:solidFill>
                        <a:srgbClr val="E2E5F0"/>
                      </a:solidFill>
                      <a:prstDash val="solid"/>
                      <a:round/>
                      <a:headEnd type="none" w="med" len="med"/>
                      <a:tailEnd type="none" w="med" len="med"/>
                    </a:lnT>
                    <a:lnB w="12700" cap="flat" cmpd="sng" algn="ctr">
                      <a:solidFill>
                        <a:srgbClr val="E2E5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172200"/>
            <a:ext cx="10515600" cy="36576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Complémentarité assumée : un modèle pour le tabulaire, un modèle pour le séquentiel — pas un choix par défaut.</a:t>
            </a:r>
            <a:endParaRPr lang="en-US" sz="1250" dirty="0"/>
          </a:p>
        </p:txBody>
      </p:sp>
      <p:sp>
        <p:nvSpPr>
          <p:cNvPr id="6" name="Text 3"/>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pic>
        <p:nvPicPr>
          <p:cNvPr id="4" name="Image 3" descr="Logotipo De La Historia De Sncf">
            <a:extLst>
              <a:ext uri="{FF2B5EF4-FFF2-40B4-BE49-F238E27FC236}">
                <a16:creationId xmlns:a16="http://schemas.microsoft.com/office/drawing/2014/main" id="{DAB077BB-109D-5388-1EC2-7B6312EC209B}"/>
              </a:ext>
            </a:extLst>
          </p:cNvPr>
          <p:cNvPicPr>
            <a:picLocks noChangeAspect="1"/>
          </p:cNvPicPr>
          <p:nvPr/>
        </p:nvPicPr>
        <p:blipFill>
          <a:blip r:embed="rId3"/>
          <a:stretch>
            <a:fillRect/>
          </a:stretch>
        </p:blipFill>
        <p:spPr>
          <a:xfrm>
            <a:off x="11533303" y="83532"/>
            <a:ext cx="536777" cy="301937"/>
          </a:xfrm>
          <a:prstGeom prst="rect">
            <a:avLst/>
          </a:prstGeom>
        </p:spPr>
      </p:pic>
      <p:pic>
        <p:nvPicPr>
          <p:cNvPr id="8" name="Image 7" descr="NEXA Digital School - Eureka Éducation">
            <a:extLst>
              <a:ext uri="{FF2B5EF4-FFF2-40B4-BE49-F238E27FC236}">
                <a16:creationId xmlns:a16="http://schemas.microsoft.com/office/drawing/2014/main" id="{3C45AFDA-F382-9D33-DA07-1DA6D0374519}"/>
              </a:ext>
            </a:extLst>
          </p:cNvPr>
          <p:cNvPicPr>
            <a:picLocks noChangeAspect="1"/>
          </p:cNvPicPr>
          <p:nvPr/>
        </p:nvPicPr>
        <p:blipFill>
          <a:blip r:embed="rId4"/>
          <a:stretch>
            <a:fillRect/>
          </a:stretch>
        </p:blipFill>
        <p:spPr>
          <a:xfrm rot="10800000" flipH="1" flipV="1">
            <a:off x="21626" y="6561341"/>
            <a:ext cx="618454" cy="274320"/>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RÉSULTATS — MODULE 1</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Random Forest : un résultat honnête, sans fuite de données</a:t>
            </a:r>
            <a:endParaRPr lang="en-US" sz="3000" dirty="0"/>
          </a:p>
        </p:txBody>
      </p:sp>
      <p:sp>
        <p:nvSpPr>
          <p:cNvPr id="4" name="Text 2"/>
          <p:cNvSpPr txBox="1"/>
          <p:nvPr/>
        </p:nvSpPr>
        <p:spPr>
          <a:xfrm>
            <a:off x="548640" y="1783080"/>
            <a:ext cx="173736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0,701</a:t>
            </a:r>
            <a:endParaRPr lang="en-US" sz="3000" dirty="0"/>
          </a:p>
        </p:txBody>
      </p:sp>
      <p:sp>
        <p:nvSpPr>
          <p:cNvPr id="5" name="Text 3"/>
          <p:cNvSpPr txBox="1"/>
          <p:nvPr/>
        </p:nvSpPr>
        <p:spPr>
          <a:xfrm>
            <a:off x="548640" y="2331720"/>
            <a:ext cx="173736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AUC-ROC</a:t>
            </a:r>
            <a:endParaRPr lang="en-US" sz="1150" dirty="0"/>
          </a:p>
        </p:txBody>
      </p:sp>
      <p:sp>
        <p:nvSpPr>
          <p:cNvPr id="6" name="Text 4"/>
          <p:cNvSpPr txBox="1"/>
          <p:nvPr/>
        </p:nvSpPr>
        <p:spPr>
          <a:xfrm>
            <a:off x="2423160" y="1783080"/>
            <a:ext cx="173736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0,639</a:t>
            </a:r>
            <a:endParaRPr lang="en-US" sz="3000" dirty="0"/>
          </a:p>
        </p:txBody>
      </p:sp>
      <p:sp>
        <p:nvSpPr>
          <p:cNvPr id="7" name="Text 5"/>
          <p:cNvSpPr txBox="1"/>
          <p:nvPr/>
        </p:nvSpPr>
        <p:spPr>
          <a:xfrm>
            <a:off x="2423160" y="2331720"/>
            <a:ext cx="173736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F1-Score</a:t>
            </a:r>
            <a:endParaRPr lang="en-US" sz="1150" dirty="0"/>
          </a:p>
        </p:txBody>
      </p:sp>
      <p:sp>
        <p:nvSpPr>
          <p:cNvPr id="8" name="Text 6"/>
          <p:cNvSpPr txBox="1"/>
          <p:nvPr/>
        </p:nvSpPr>
        <p:spPr>
          <a:xfrm>
            <a:off x="4297680" y="1783080"/>
            <a:ext cx="173736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±0,005</a:t>
            </a:r>
            <a:endParaRPr lang="en-US" sz="3000" dirty="0"/>
          </a:p>
        </p:txBody>
      </p:sp>
      <p:sp>
        <p:nvSpPr>
          <p:cNvPr id="9" name="Text 7"/>
          <p:cNvSpPr txBox="1"/>
          <p:nvPr/>
        </p:nvSpPr>
        <p:spPr>
          <a:xfrm>
            <a:off x="4297680" y="2331720"/>
            <a:ext cx="1737360" cy="365760"/>
          </a:xfrm>
          <a:prstGeom prst="rect">
            <a:avLst/>
          </a:prstGeom>
          <a:noFill/>
          <a:ln/>
        </p:spPr>
        <p:txBody>
          <a:bodyPr wrap="square" lIns="0" tIns="0" rIns="0" bIns="0" rtlCol="0" anchor="ctr"/>
          <a:lstStyle/>
          <a:p>
            <a:pPr marL="0" indent="0">
              <a:buNone/>
            </a:pPr>
            <a:r>
              <a:rPr lang="en-US" sz="1150" dirty="0" err="1">
                <a:solidFill>
                  <a:srgbClr val="6B7280"/>
                </a:solidFill>
                <a:latin typeface="Calibri" pitchFamily="34" charset="0"/>
                <a:ea typeface="Calibri" pitchFamily="34" charset="-122"/>
                <a:cs typeface="Calibri" pitchFamily="34" charset="-120"/>
              </a:rPr>
              <a:t>Écart</a:t>
            </a:r>
            <a:r>
              <a:rPr lang="en-US" sz="1150" dirty="0">
                <a:solidFill>
                  <a:srgbClr val="6B7280"/>
                </a:solidFill>
                <a:latin typeface="Calibri" pitchFamily="34" charset="0"/>
                <a:ea typeface="Calibri" pitchFamily="34" charset="-122"/>
                <a:cs typeface="Calibri" pitchFamily="34" charset="-120"/>
              </a:rPr>
              <a:t>-type CV 5-fold</a:t>
            </a:r>
            <a:endParaRPr lang="en-US" sz="1150" dirty="0"/>
          </a:p>
        </p:txBody>
      </p:sp>
      <p:sp>
        <p:nvSpPr>
          <p:cNvPr id="11" name="Shape 8"/>
          <p:cNvSpPr/>
          <p:nvPr/>
        </p:nvSpPr>
        <p:spPr>
          <a:xfrm>
            <a:off x="548640" y="2880360"/>
            <a:ext cx="5623560" cy="1005840"/>
          </a:xfrm>
          <a:prstGeom prst="roundRect">
            <a:avLst>
              <a:gd name="adj" fmla="val 7273"/>
            </a:avLst>
          </a:prstGeom>
          <a:solidFill>
            <a:srgbClr val="F7F8FC"/>
          </a:solidFill>
          <a:ln/>
        </p:spPr>
        <p:txBody>
          <a:bodyPr/>
          <a:lstStyle/>
          <a:p>
            <a:endParaRPr lang="fr-FR"/>
          </a:p>
        </p:txBody>
      </p:sp>
      <p:sp>
        <p:nvSpPr>
          <p:cNvPr id="12" name="Text 9"/>
          <p:cNvSpPr txBox="1"/>
          <p:nvPr/>
        </p:nvSpPr>
        <p:spPr>
          <a:xfrm>
            <a:off x="777240" y="2880360"/>
            <a:ext cx="5166360" cy="1005840"/>
          </a:xfrm>
          <a:prstGeom prst="rect">
            <a:avLst/>
          </a:prstGeom>
          <a:noFill/>
          <a:ln/>
        </p:spPr>
        <p:txBody>
          <a:bodyPr wrap="square" lIns="0" tIns="0" rIns="0" bIns="0" rtlCol="0" anchor="ctr"/>
          <a:lstStyle/>
          <a:p>
            <a:pPr marL="0" indent="0">
              <a:buNone/>
            </a:pPr>
            <a:r>
              <a:rPr lang="en-US" sz="1200" i="1" dirty="0">
                <a:solidFill>
                  <a:srgbClr val="1A1A2E"/>
                </a:solidFill>
                <a:latin typeface="Calibri" pitchFamily="34" charset="0"/>
                <a:ea typeface="Calibri" pitchFamily="34" charset="-122"/>
                <a:cs typeface="Calibri" pitchFamily="34" charset="-120"/>
              </a:rPr>
              <a:t>Une 1ʳᵉ version atteignait 0,916 — mais en incluant des variables mathématiquement liées à la cible (fuite de données). Écartée par rigueur.</a:t>
            </a:r>
            <a:endParaRPr lang="en-US" sz="1200" dirty="0"/>
          </a:p>
        </p:txBody>
      </p:sp>
      <p:sp>
        <p:nvSpPr>
          <p:cNvPr id="13" name="Text 10"/>
          <p:cNvSpPr txBox="1"/>
          <p:nvPr/>
        </p:nvSpPr>
        <p:spPr>
          <a:xfrm>
            <a:off x="548640" y="4892040"/>
            <a:ext cx="11064240" cy="1280160"/>
          </a:xfrm>
          <a:prstGeom prst="rect">
            <a:avLst/>
          </a:prstGeom>
          <a:noFill/>
          <a:ln/>
        </p:spPr>
        <p:txBody>
          <a:bodyPr wrap="square" lIns="0" tIns="0" rIns="0" bIns="0" rtlCol="0" anchor="ctr"/>
          <a:lstStyle/>
          <a:p>
            <a:pPr marL="0" indent="0" algn="ctr">
              <a:lnSpc>
                <a:spcPct val="125000"/>
              </a:lnSpc>
              <a:buNone/>
            </a:pPr>
            <a:r>
              <a:rPr lang="en-US" sz="1400" dirty="0">
                <a:solidFill>
                  <a:srgbClr val="1A1A2E"/>
                </a:solidFill>
                <a:latin typeface="Calibri" pitchFamily="34" charset="0"/>
                <a:ea typeface="Calibri" pitchFamily="34" charset="-122"/>
                <a:cs typeface="Calibri" pitchFamily="34" charset="-120"/>
              </a:rPr>
              <a:t>Ce que ça signifie : l'écart entre 0,70 et l'objectif de 0,90 n'est pas un </a:t>
            </a:r>
            <a:r>
              <a:rPr lang="en-US" sz="1400" dirty="0" err="1">
                <a:solidFill>
                  <a:srgbClr val="1A1A2E"/>
                </a:solidFill>
                <a:latin typeface="Calibri" pitchFamily="34" charset="0"/>
                <a:ea typeface="Calibri" pitchFamily="34" charset="-122"/>
                <a:cs typeface="Calibri" pitchFamily="34" charset="-120"/>
              </a:rPr>
              <a:t>échec</a:t>
            </a:r>
            <a:r>
              <a:rPr lang="en-US" sz="1400" dirty="0">
                <a:solidFill>
                  <a:srgbClr val="1A1A2E"/>
                </a:solidFill>
                <a:latin typeface="Calibri" pitchFamily="34" charset="0"/>
                <a:ea typeface="Calibri" pitchFamily="34" charset="-122"/>
                <a:cs typeface="Calibri" pitchFamily="34" charset="-120"/>
              </a:rPr>
              <a:t> , c'est la preuve chiffrée que l'open data agrégé ne suffit pas ; il faut les données granulaires internes (télédiagnostic, vibrations) pour atteindre une vraie maintenance prédictive.</a:t>
            </a:r>
            <a:endParaRPr lang="en-US" sz="1400" dirty="0"/>
          </a:p>
        </p:txBody>
      </p:sp>
      <p:sp>
        <p:nvSpPr>
          <p:cNvPr id="14" name="Text 11"/>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pic>
        <p:nvPicPr>
          <p:cNvPr id="17" name="Image 16">
            <a:extLst>
              <a:ext uri="{FF2B5EF4-FFF2-40B4-BE49-F238E27FC236}">
                <a16:creationId xmlns:a16="http://schemas.microsoft.com/office/drawing/2014/main" id="{4EB15938-4623-A804-24F2-6D71A204B5D2}"/>
              </a:ext>
            </a:extLst>
          </p:cNvPr>
          <p:cNvPicPr>
            <a:picLocks noChangeAspect="1"/>
          </p:cNvPicPr>
          <p:nvPr/>
        </p:nvPicPr>
        <p:blipFill>
          <a:blip r:embed="rId3"/>
          <a:stretch>
            <a:fillRect/>
          </a:stretch>
        </p:blipFill>
        <p:spPr>
          <a:xfrm>
            <a:off x="6513966" y="1173672"/>
            <a:ext cx="5327515" cy="3525650"/>
          </a:xfrm>
          <a:prstGeom prst="rect">
            <a:avLst/>
          </a:prstGeom>
        </p:spPr>
      </p:pic>
      <p:pic>
        <p:nvPicPr>
          <p:cNvPr id="18" name="Image 17" descr="Logotipo De La Historia De Sncf">
            <a:extLst>
              <a:ext uri="{FF2B5EF4-FFF2-40B4-BE49-F238E27FC236}">
                <a16:creationId xmlns:a16="http://schemas.microsoft.com/office/drawing/2014/main" id="{043E1DDA-60A6-F445-1F4E-901A3B9A30C0}"/>
              </a:ext>
            </a:extLst>
          </p:cNvPr>
          <p:cNvPicPr>
            <a:picLocks noChangeAspect="1"/>
          </p:cNvPicPr>
          <p:nvPr/>
        </p:nvPicPr>
        <p:blipFill>
          <a:blip r:embed="rId4"/>
          <a:stretch>
            <a:fillRect/>
          </a:stretch>
        </p:blipFill>
        <p:spPr>
          <a:xfrm>
            <a:off x="11382032" y="51885"/>
            <a:ext cx="688048" cy="387027"/>
          </a:xfrm>
          <a:prstGeom prst="rect">
            <a:avLst/>
          </a:prstGeom>
        </p:spPr>
      </p:pic>
      <p:pic>
        <p:nvPicPr>
          <p:cNvPr id="20" name="Image 19" descr="NEXA Digital School - Eureka Éducation">
            <a:extLst>
              <a:ext uri="{FF2B5EF4-FFF2-40B4-BE49-F238E27FC236}">
                <a16:creationId xmlns:a16="http://schemas.microsoft.com/office/drawing/2014/main" id="{337A0AA3-4A38-9301-AE9B-E4CFAF00CEE6}"/>
              </a:ext>
            </a:extLst>
          </p:cNvPr>
          <p:cNvPicPr>
            <a:picLocks noChangeAspect="1"/>
          </p:cNvPicPr>
          <p:nvPr/>
        </p:nvPicPr>
        <p:blipFill>
          <a:blip r:embed="rId5"/>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RÉSULTATS — MODULE 2</a:t>
            </a:r>
            <a:endParaRPr lang="en-US" sz="1200" dirty="0"/>
          </a:p>
        </p:txBody>
      </p:sp>
      <p:sp>
        <p:nvSpPr>
          <p:cNvPr id="3" name="Text 1"/>
          <p:cNvSpPr txBox="1"/>
          <p:nvPr/>
        </p:nvSpPr>
        <p:spPr>
          <a:xfrm>
            <a:off x="548640" y="685800"/>
            <a:ext cx="11064240" cy="548640"/>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LSTM : la régularité mensuelle prédite avec précision</a:t>
            </a:r>
            <a:endParaRPr lang="en-US" sz="3000" dirty="0"/>
          </a:p>
        </p:txBody>
      </p:sp>
      <p:sp>
        <p:nvSpPr>
          <p:cNvPr id="4" name="Text 2"/>
          <p:cNvSpPr txBox="1"/>
          <p:nvPr/>
        </p:nvSpPr>
        <p:spPr>
          <a:xfrm>
            <a:off x="548640" y="1783080"/>
            <a:ext cx="182880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1,90%</a:t>
            </a:r>
            <a:endParaRPr lang="en-US" sz="3000" dirty="0"/>
          </a:p>
        </p:txBody>
      </p:sp>
      <p:sp>
        <p:nvSpPr>
          <p:cNvPr id="5" name="Text 3"/>
          <p:cNvSpPr txBox="1"/>
          <p:nvPr/>
        </p:nvSpPr>
        <p:spPr>
          <a:xfrm>
            <a:off x="548640" y="2331720"/>
            <a:ext cx="18288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MAE</a:t>
            </a:r>
            <a:endParaRPr lang="en-US" sz="1150" dirty="0"/>
          </a:p>
        </p:txBody>
      </p:sp>
      <p:sp>
        <p:nvSpPr>
          <p:cNvPr id="6" name="Text 4"/>
          <p:cNvSpPr txBox="1"/>
          <p:nvPr/>
        </p:nvSpPr>
        <p:spPr>
          <a:xfrm>
            <a:off x="2514600" y="1783080"/>
            <a:ext cx="182880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2,29%</a:t>
            </a:r>
            <a:endParaRPr lang="en-US" sz="3000" dirty="0"/>
          </a:p>
        </p:txBody>
      </p:sp>
      <p:sp>
        <p:nvSpPr>
          <p:cNvPr id="7" name="Text 5"/>
          <p:cNvSpPr txBox="1"/>
          <p:nvPr/>
        </p:nvSpPr>
        <p:spPr>
          <a:xfrm>
            <a:off x="2514600" y="2331720"/>
            <a:ext cx="18288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RMSE</a:t>
            </a:r>
            <a:endParaRPr lang="en-US" sz="1150" dirty="0"/>
          </a:p>
        </p:txBody>
      </p:sp>
      <p:sp>
        <p:nvSpPr>
          <p:cNvPr id="8" name="Text 6"/>
          <p:cNvSpPr txBox="1"/>
          <p:nvPr/>
        </p:nvSpPr>
        <p:spPr>
          <a:xfrm>
            <a:off x="4480560" y="1783080"/>
            <a:ext cx="1828800" cy="548640"/>
          </a:xfrm>
          <a:prstGeom prst="rect">
            <a:avLst/>
          </a:prstGeom>
          <a:noFill/>
          <a:ln/>
        </p:spPr>
        <p:txBody>
          <a:bodyPr wrap="square" lIns="0" tIns="0" rIns="0" bIns="0" rtlCol="0" anchor="ctr"/>
          <a:lstStyle/>
          <a:p>
            <a:pPr marL="0" indent="0">
              <a:buNone/>
            </a:pPr>
            <a:r>
              <a:rPr lang="en-US" sz="3000" b="1" dirty="0">
                <a:solidFill>
                  <a:srgbClr val="E2001A"/>
                </a:solidFill>
                <a:latin typeface="Cambria" pitchFamily="34" charset="0"/>
                <a:ea typeface="Cambria" pitchFamily="34" charset="-122"/>
                <a:cs typeface="Cambria" pitchFamily="34" charset="-120"/>
              </a:rPr>
              <a:t>&lt; 3%</a:t>
            </a:r>
            <a:endParaRPr lang="en-US" sz="3000" dirty="0"/>
          </a:p>
        </p:txBody>
      </p:sp>
      <p:sp>
        <p:nvSpPr>
          <p:cNvPr id="9" name="Text 7"/>
          <p:cNvSpPr txBox="1"/>
          <p:nvPr/>
        </p:nvSpPr>
        <p:spPr>
          <a:xfrm>
            <a:off x="4480560" y="2331720"/>
            <a:ext cx="18288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objectif KPI — atteint</a:t>
            </a:r>
            <a:endParaRPr lang="en-US" sz="1150" dirty="0"/>
          </a:p>
        </p:txBody>
      </p:sp>
      <p:sp>
        <p:nvSpPr>
          <p:cNvPr id="11" name="Shape 8"/>
          <p:cNvSpPr/>
          <p:nvPr/>
        </p:nvSpPr>
        <p:spPr>
          <a:xfrm>
            <a:off x="8366760" y="3108960"/>
            <a:ext cx="3246120" cy="2377440"/>
          </a:xfrm>
          <a:prstGeom prst="roundRect">
            <a:avLst>
              <a:gd name="adj" fmla="val 2353"/>
            </a:avLst>
          </a:prstGeom>
          <a:solidFill>
            <a:srgbClr val="F7F8FC"/>
          </a:solidFill>
          <a:ln/>
        </p:spPr>
        <p:txBody>
          <a:bodyPr/>
          <a:lstStyle/>
          <a:p>
            <a:endParaRPr lang="fr-FR"/>
          </a:p>
        </p:txBody>
      </p:sp>
      <p:sp>
        <p:nvSpPr>
          <p:cNvPr id="12" name="Text 9"/>
          <p:cNvSpPr txBox="1"/>
          <p:nvPr/>
        </p:nvSpPr>
        <p:spPr>
          <a:xfrm>
            <a:off x="8572500" y="3108960"/>
            <a:ext cx="283464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Lecture du graphique</a:t>
            </a:r>
            <a:endParaRPr lang="en-US" sz="1200" dirty="0"/>
          </a:p>
        </p:txBody>
      </p:sp>
      <p:sp>
        <p:nvSpPr>
          <p:cNvPr id="13" name="Text 10"/>
          <p:cNvSpPr txBox="1"/>
          <p:nvPr/>
        </p:nvSpPr>
        <p:spPr>
          <a:xfrm>
            <a:off x="8595360" y="3474720"/>
            <a:ext cx="2834640" cy="1433182"/>
          </a:xfrm>
          <a:prstGeom prst="rect">
            <a:avLst/>
          </a:prstGeom>
          <a:noFill/>
          <a:ln/>
        </p:spPr>
        <p:txBody>
          <a:bodyPr wrap="square" lIns="0" tIns="0" rIns="0" bIns="0" rtlCol="0" anchor="t"/>
          <a:lstStyle/>
          <a:p>
            <a:pPr marL="0" indent="0">
              <a:lnSpc>
                <a:spcPct val="120000"/>
              </a:lnSpc>
              <a:buNone/>
            </a:pPr>
            <a:r>
              <a:rPr lang="en-US" sz="1200" dirty="0">
                <a:solidFill>
                  <a:srgbClr val="1A1A2E"/>
                </a:solidFill>
                <a:latin typeface="Calibri" pitchFamily="34" charset="0"/>
                <a:ea typeface="Calibri" pitchFamily="34" charset="-122"/>
                <a:cs typeface="Calibri" pitchFamily="34" charset="-120"/>
              </a:rPr>
              <a:t>Le LSTM lisse les pics extrêmes (grèves, JO 2024) et capture la tendance de fond grâce à sa mémoire sur 12 mois — exactement ce qu'un modèle sans mémoire temporelle ne peut pas faire.</a:t>
            </a:r>
            <a:endParaRPr lang="en-US" sz="1200" dirty="0"/>
          </a:p>
        </p:txBody>
      </p:sp>
      <p:sp>
        <p:nvSpPr>
          <p:cNvPr id="14" name="Text 11"/>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pic>
        <p:nvPicPr>
          <p:cNvPr id="15" name="Image 14">
            <a:extLst>
              <a:ext uri="{FF2B5EF4-FFF2-40B4-BE49-F238E27FC236}">
                <a16:creationId xmlns:a16="http://schemas.microsoft.com/office/drawing/2014/main" id="{A1491C04-444C-175A-CA93-000B5AE001E4}"/>
              </a:ext>
            </a:extLst>
          </p:cNvPr>
          <p:cNvPicPr>
            <a:picLocks noChangeAspect="1"/>
          </p:cNvPicPr>
          <p:nvPr/>
        </p:nvPicPr>
        <p:blipFill>
          <a:blip r:embed="rId3"/>
          <a:stretch>
            <a:fillRect/>
          </a:stretch>
        </p:blipFill>
        <p:spPr>
          <a:xfrm>
            <a:off x="1241063" y="2880360"/>
            <a:ext cx="6014077" cy="2971800"/>
          </a:xfrm>
          <a:prstGeom prst="rect">
            <a:avLst/>
          </a:prstGeom>
        </p:spPr>
      </p:pic>
      <p:pic>
        <p:nvPicPr>
          <p:cNvPr id="16" name="Image 15" descr="Logotipo De La Historia De Sncf">
            <a:extLst>
              <a:ext uri="{FF2B5EF4-FFF2-40B4-BE49-F238E27FC236}">
                <a16:creationId xmlns:a16="http://schemas.microsoft.com/office/drawing/2014/main" id="{1F725C10-8818-7388-FDA8-D19AD50C3A78}"/>
              </a:ext>
            </a:extLst>
          </p:cNvPr>
          <p:cNvPicPr>
            <a:picLocks noChangeAspect="1"/>
          </p:cNvPicPr>
          <p:nvPr/>
        </p:nvPicPr>
        <p:blipFill>
          <a:blip r:embed="rId4"/>
          <a:stretch>
            <a:fillRect/>
          </a:stretch>
        </p:blipFill>
        <p:spPr>
          <a:xfrm>
            <a:off x="11563525" y="86132"/>
            <a:ext cx="506555" cy="284937"/>
          </a:xfrm>
          <a:prstGeom prst="rect">
            <a:avLst/>
          </a:prstGeom>
        </p:spPr>
      </p:pic>
      <p:pic>
        <p:nvPicPr>
          <p:cNvPr id="18" name="Image 17" descr="NEXA Digital School - Eureka Éducation">
            <a:extLst>
              <a:ext uri="{FF2B5EF4-FFF2-40B4-BE49-F238E27FC236}">
                <a16:creationId xmlns:a16="http://schemas.microsoft.com/office/drawing/2014/main" id="{D3DD2F26-0511-AA35-F3A5-73C0E7A1C399}"/>
              </a:ext>
            </a:extLst>
          </p:cNvPr>
          <p:cNvPicPr>
            <a:picLocks noChangeAspect="1"/>
          </p:cNvPicPr>
          <p:nvPr/>
        </p:nvPicPr>
        <p:blipFill>
          <a:blip r:embed="rId5"/>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VULGARISATION</a:t>
            </a:r>
            <a:endParaRPr lang="en-US" sz="1200" dirty="0"/>
          </a:p>
        </p:txBody>
      </p:sp>
      <p:sp>
        <p:nvSpPr>
          <p:cNvPr id="3" name="Text 1"/>
          <p:cNvSpPr txBox="1"/>
          <p:nvPr/>
        </p:nvSpPr>
        <p:spPr>
          <a:xfrm>
            <a:off x="548640" y="1371600"/>
            <a:ext cx="10515600" cy="8229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Ce que ça change pour vous, concrètement</a:t>
            </a:r>
            <a:endParaRPr lang="en-US" sz="2800" dirty="0"/>
          </a:p>
        </p:txBody>
      </p:sp>
      <p:sp>
        <p:nvSpPr>
          <p:cNvPr id="4" name="Text 2"/>
          <p:cNvSpPr txBox="1"/>
          <p:nvPr/>
        </p:nvSpPr>
        <p:spPr>
          <a:xfrm>
            <a:off x="548640" y="2331720"/>
            <a:ext cx="10698480" cy="914400"/>
          </a:xfrm>
          <a:prstGeom prst="rect">
            <a:avLst/>
          </a:prstGeom>
          <a:noFill/>
          <a:ln/>
        </p:spPr>
        <p:txBody>
          <a:bodyPr wrap="square" lIns="0" tIns="0" rIns="0" bIns="0" rtlCol="0" anchor="ctr"/>
          <a:lstStyle/>
          <a:p>
            <a:pPr marL="0" indent="0">
              <a:lnSpc>
                <a:spcPct val="125000"/>
              </a:lnSpc>
              <a:buNone/>
            </a:pPr>
            <a:r>
              <a:rPr lang="en-US" sz="1500" i="1" dirty="0">
                <a:solidFill>
                  <a:srgbClr val="CADCFC"/>
                </a:solidFill>
                <a:latin typeface="Calibri" pitchFamily="34" charset="0"/>
                <a:ea typeface="Calibri" pitchFamily="34" charset="-122"/>
                <a:cs typeface="Calibri" pitchFamily="34" charset="-120"/>
              </a:rPr>
              <a:t>Imaginez un carnet de bord qui note, mois après mois, la ponctualité de chaque ligne. Notre modèle apprend les habitudes de ce carnet et signale, avant que le problème n'éclate, les mois et les liaisons à surveiller en priorité.</a:t>
            </a:r>
            <a:endParaRPr lang="en-US" sz="1500" dirty="0"/>
          </a:p>
        </p:txBody>
      </p:sp>
      <p:sp>
        <p:nvSpPr>
          <p:cNvPr id="5" name="Shape 3"/>
          <p:cNvSpPr/>
          <p:nvPr/>
        </p:nvSpPr>
        <p:spPr>
          <a:xfrm>
            <a:off x="548640" y="3703320"/>
            <a:ext cx="3520440" cy="1965960"/>
          </a:xfrm>
          <a:prstGeom prst="roundRect">
            <a:avLst>
              <a:gd name="adj" fmla="val 3721"/>
            </a:avLst>
          </a:prstGeom>
          <a:solidFill>
            <a:srgbClr val="263479"/>
          </a:solidFill>
          <a:ln/>
        </p:spPr>
        <p:txBody>
          <a:bodyPr/>
          <a:lstStyle/>
          <a:p>
            <a:endParaRPr lang="fr-FR"/>
          </a:p>
        </p:txBody>
      </p:sp>
      <p:sp>
        <p:nvSpPr>
          <p:cNvPr id="6" name="Text 4"/>
          <p:cNvSpPr txBox="1"/>
          <p:nvPr/>
        </p:nvSpPr>
        <p:spPr>
          <a:xfrm>
            <a:off x="777240" y="3931920"/>
            <a:ext cx="3063240" cy="5943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Moins de pannes surprises</a:t>
            </a:r>
            <a:endParaRPr lang="en-US" sz="1500" dirty="0"/>
          </a:p>
        </p:txBody>
      </p:sp>
      <p:sp>
        <p:nvSpPr>
          <p:cNvPr id="7" name="Text 5"/>
          <p:cNvSpPr txBox="1"/>
          <p:nvPr/>
        </p:nvSpPr>
        <p:spPr>
          <a:xfrm>
            <a:off x="777240" y="4526280"/>
            <a:ext cx="3063240" cy="1005840"/>
          </a:xfrm>
          <a:prstGeom prst="rect">
            <a:avLst/>
          </a:prstGeom>
          <a:noFill/>
          <a:ln/>
        </p:spPr>
        <p:txBody>
          <a:bodyPr wrap="square" lIns="0" tIns="0" rIns="0" bIns="0"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Interventions planifiées plutôt que subies en urgence</a:t>
            </a:r>
            <a:endParaRPr lang="en-US" sz="1250" dirty="0"/>
          </a:p>
        </p:txBody>
      </p:sp>
      <p:sp>
        <p:nvSpPr>
          <p:cNvPr id="8" name="Shape 6"/>
          <p:cNvSpPr/>
          <p:nvPr/>
        </p:nvSpPr>
        <p:spPr>
          <a:xfrm>
            <a:off x="4297680" y="3703320"/>
            <a:ext cx="3520440" cy="1965960"/>
          </a:xfrm>
          <a:prstGeom prst="roundRect">
            <a:avLst>
              <a:gd name="adj" fmla="val 3721"/>
            </a:avLst>
          </a:prstGeom>
          <a:solidFill>
            <a:srgbClr val="263479"/>
          </a:solidFill>
          <a:ln/>
        </p:spPr>
        <p:txBody>
          <a:bodyPr/>
          <a:lstStyle/>
          <a:p>
            <a:endParaRPr lang="fr-FR"/>
          </a:p>
        </p:txBody>
      </p:sp>
      <p:sp>
        <p:nvSpPr>
          <p:cNvPr id="9" name="Text 7"/>
          <p:cNvSpPr txBox="1"/>
          <p:nvPr/>
        </p:nvSpPr>
        <p:spPr>
          <a:xfrm>
            <a:off x="4526280" y="3931920"/>
            <a:ext cx="3063240" cy="5943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Moins d'indemnisations</a:t>
            </a:r>
            <a:endParaRPr lang="en-US" sz="1500" dirty="0"/>
          </a:p>
        </p:txBody>
      </p:sp>
      <p:sp>
        <p:nvSpPr>
          <p:cNvPr id="10" name="Text 8"/>
          <p:cNvSpPr txBox="1"/>
          <p:nvPr/>
        </p:nvSpPr>
        <p:spPr>
          <a:xfrm>
            <a:off x="4526280" y="4526280"/>
            <a:ext cx="3063240" cy="1005840"/>
          </a:xfrm>
          <a:prstGeom prst="rect">
            <a:avLst/>
          </a:prstGeom>
          <a:noFill/>
          <a:ln/>
        </p:spPr>
        <p:txBody>
          <a:bodyPr wrap="square" lIns="0" tIns="0" rIns="0" bIns="0"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Anticipation des retards avant qu'ils ne déclenchent le règlement UE</a:t>
            </a:r>
            <a:endParaRPr lang="en-US" sz="1250" dirty="0"/>
          </a:p>
        </p:txBody>
      </p:sp>
      <p:sp>
        <p:nvSpPr>
          <p:cNvPr id="11" name="Shape 9"/>
          <p:cNvSpPr/>
          <p:nvPr/>
        </p:nvSpPr>
        <p:spPr>
          <a:xfrm>
            <a:off x="8046720" y="3703320"/>
            <a:ext cx="3520440" cy="1965960"/>
          </a:xfrm>
          <a:prstGeom prst="roundRect">
            <a:avLst>
              <a:gd name="adj" fmla="val 3721"/>
            </a:avLst>
          </a:prstGeom>
          <a:solidFill>
            <a:srgbClr val="263479"/>
          </a:solidFill>
          <a:ln/>
        </p:spPr>
        <p:txBody>
          <a:bodyPr/>
          <a:lstStyle/>
          <a:p>
            <a:endParaRPr lang="fr-FR"/>
          </a:p>
        </p:txBody>
      </p:sp>
      <p:sp>
        <p:nvSpPr>
          <p:cNvPr id="12" name="Text 10"/>
          <p:cNvSpPr txBox="1"/>
          <p:nvPr/>
        </p:nvSpPr>
        <p:spPr>
          <a:xfrm>
            <a:off x="8275320" y="3931920"/>
            <a:ext cx="3063240" cy="5943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Équipes mieux allouées</a:t>
            </a:r>
            <a:endParaRPr lang="en-US" sz="1500" dirty="0"/>
          </a:p>
        </p:txBody>
      </p:sp>
      <p:sp>
        <p:nvSpPr>
          <p:cNvPr id="13" name="Text 11"/>
          <p:cNvSpPr txBox="1"/>
          <p:nvPr/>
        </p:nvSpPr>
        <p:spPr>
          <a:xfrm>
            <a:off x="8275320" y="4526280"/>
            <a:ext cx="3063240" cy="1005840"/>
          </a:xfrm>
          <a:prstGeom prst="rect">
            <a:avLst/>
          </a:prstGeom>
          <a:noFill/>
          <a:ln/>
        </p:spPr>
        <p:txBody>
          <a:bodyPr wrap="square" lIns="0" tIns="0" rIns="0" bIns="0"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Alertes priorisées, pas d'intervention inutile sur du matériel sain</a:t>
            </a:r>
            <a:endParaRPr lang="en-US" sz="1250" dirty="0"/>
          </a:p>
        </p:txBody>
      </p:sp>
      <p:sp>
        <p:nvSpPr>
          <p:cNvPr id="14" name="Text 12"/>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pic>
        <p:nvPicPr>
          <p:cNvPr id="15" name="Image 14" descr="Logotipo De La Historia De Sncf">
            <a:extLst>
              <a:ext uri="{FF2B5EF4-FFF2-40B4-BE49-F238E27FC236}">
                <a16:creationId xmlns:a16="http://schemas.microsoft.com/office/drawing/2014/main" id="{3D4DB613-DD0A-748F-98AE-C7FB77DD59E8}"/>
              </a:ext>
            </a:extLst>
          </p:cNvPr>
          <p:cNvPicPr>
            <a:picLocks noChangeAspect="1"/>
          </p:cNvPicPr>
          <p:nvPr/>
        </p:nvPicPr>
        <p:blipFill>
          <a:blip r:embed="rId3"/>
          <a:stretch>
            <a:fillRect/>
          </a:stretch>
        </p:blipFill>
        <p:spPr>
          <a:xfrm>
            <a:off x="11463855" y="164592"/>
            <a:ext cx="606225" cy="341002"/>
          </a:xfrm>
          <a:prstGeom prst="rect">
            <a:avLst/>
          </a:prstGeom>
        </p:spPr>
      </p:pic>
      <p:pic>
        <p:nvPicPr>
          <p:cNvPr id="17" name="Image 16" descr="NEXA Digital School - Eureka Éducation">
            <a:extLst>
              <a:ext uri="{FF2B5EF4-FFF2-40B4-BE49-F238E27FC236}">
                <a16:creationId xmlns:a16="http://schemas.microsoft.com/office/drawing/2014/main" id="{89C070B0-E352-F540-BA9E-0FD767EFDB22}"/>
              </a:ext>
            </a:extLst>
          </p:cNvPr>
          <p:cNvPicPr>
            <a:picLocks noChangeAspect="1"/>
          </p:cNvPicPr>
          <p:nvPr/>
        </p:nvPicPr>
        <p:blipFill>
          <a:blip r:embed="rId4"/>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ET ENSUITE</a:t>
            </a:r>
            <a:endParaRPr lang="en-US" sz="1200" dirty="0"/>
          </a:p>
        </p:txBody>
      </p:sp>
      <p:sp>
        <p:nvSpPr>
          <p:cNvPr id="3" name="Text 1"/>
          <p:cNvSpPr txBox="1"/>
          <p:nvPr/>
        </p:nvSpPr>
        <p:spPr>
          <a:xfrm>
            <a:off x="548640" y="727828"/>
            <a:ext cx="11064240" cy="506612"/>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Feuille de route pour passer du prototype à la production</a:t>
            </a:r>
            <a:endParaRPr lang="en-US" sz="3000" dirty="0"/>
          </a:p>
        </p:txBody>
      </p:sp>
      <p:sp>
        <p:nvSpPr>
          <p:cNvPr id="4" name="Shape 2"/>
          <p:cNvSpPr/>
          <p:nvPr/>
        </p:nvSpPr>
        <p:spPr>
          <a:xfrm>
            <a:off x="548640" y="1920240"/>
            <a:ext cx="2606040" cy="3291840"/>
          </a:xfrm>
          <a:prstGeom prst="roundRect">
            <a:avLst>
              <a:gd name="adj" fmla="val 2807"/>
            </a:avLst>
          </a:prstGeom>
          <a:solidFill>
            <a:srgbClr val="F7F8FC"/>
          </a:solidFill>
          <a:ln/>
        </p:spPr>
        <p:txBody>
          <a:bodyPr/>
          <a:lstStyle/>
          <a:p>
            <a:endParaRPr lang="fr-FR"/>
          </a:p>
        </p:txBody>
      </p:sp>
      <p:sp>
        <p:nvSpPr>
          <p:cNvPr id="5" name="Shape 3"/>
          <p:cNvSpPr/>
          <p:nvPr/>
        </p:nvSpPr>
        <p:spPr>
          <a:xfrm>
            <a:off x="777240" y="2194560"/>
            <a:ext cx="502920" cy="502920"/>
          </a:xfrm>
          <a:prstGeom prst="ellipse">
            <a:avLst/>
          </a:prstGeom>
          <a:solidFill>
            <a:srgbClr val="E2001A"/>
          </a:solidFill>
          <a:ln/>
        </p:spPr>
        <p:txBody>
          <a:bodyPr/>
          <a:lstStyle/>
          <a:p>
            <a:endParaRPr lang="fr-FR"/>
          </a:p>
        </p:txBody>
      </p:sp>
      <p:sp>
        <p:nvSpPr>
          <p:cNvPr id="6" name="Text 4"/>
          <p:cNvSpPr txBox="1"/>
          <p:nvPr/>
        </p:nvSpPr>
        <p:spPr>
          <a:xfrm>
            <a:off x="777240" y="2194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77240" y="2880360"/>
            <a:ext cx="2148840" cy="6858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Données granulaires</a:t>
            </a:r>
            <a:endParaRPr lang="en-US" sz="1400" dirty="0"/>
          </a:p>
        </p:txBody>
      </p:sp>
      <p:sp>
        <p:nvSpPr>
          <p:cNvPr id="8" name="Text 6"/>
          <p:cNvSpPr txBox="1"/>
          <p:nvPr/>
        </p:nvSpPr>
        <p:spPr>
          <a:xfrm>
            <a:off x="777240" y="3520440"/>
            <a:ext cx="2148840" cy="1554480"/>
          </a:xfrm>
          <a:prstGeom prst="rect">
            <a:avLst/>
          </a:prstGeom>
          <a:noFill/>
          <a:ln/>
        </p:spPr>
        <p:txBody>
          <a:bodyPr wrap="square" lIns="0" tIns="0" rIns="0" bIns="0" rtlCol="0" anchor="t"/>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Accès aux signaux de télédiagnostic embarqués, vibrations, historique de réparations par rame</a:t>
            </a:r>
            <a:endParaRPr lang="en-US" sz="1150" dirty="0"/>
          </a:p>
        </p:txBody>
      </p:sp>
      <p:sp>
        <p:nvSpPr>
          <p:cNvPr id="9" name="Shape 7"/>
          <p:cNvSpPr/>
          <p:nvPr/>
        </p:nvSpPr>
        <p:spPr>
          <a:xfrm>
            <a:off x="3337560" y="1920240"/>
            <a:ext cx="2606040" cy="3291840"/>
          </a:xfrm>
          <a:prstGeom prst="roundRect">
            <a:avLst>
              <a:gd name="adj" fmla="val 2807"/>
            </a:avLst>
          </a:prstGeom>
          <a:solidFill>
            <a:srgbClr val="F7F8FC"/>
          </a:solidFill>
          <a:ln/>
        </p:spPr>
        <p:txBody>
          <a:bodyPr/>
          <a:lstStyle/>
          <a:p>
            <a:endParaRPr lang="fr-FR"/>
          </a:p>
        </p:txBody>
      </p:sp>
      <p:sp>
        <p:nvSpPr>
          <p:cNvPr id="10" name="Shape 8"/>
          <p:cNvSpPr/>
          <p:nvPr/>
        </p:nvSpPr>
        <p:spPr>
          <a:xfrm>
            <a:off x="3566160" y="2194560"/>
            <a:ext cx="502920" cy="502920"/>
          </a:xfrm>
          <a:prstGeom prst="ellipse">
            <a:avLst/>
          </a:prstGeom>
          <a:solidFill>
            <a:srgbClr val="1E2761"/>
          </a:solidFill>
          <a:ln/>
        </p:spPr>
        <p:txBody>
          <a:bodyPr/>
          <a:lstStyle/>
          <a:p>
            <a:endParaRPr lang="fr-FR"/>
          </a:p>
        </p:txBody>
      </p:sp>
      <p:sp>
        <p:nvSpPr>
          <p:cNvPr id="11" name="Text 9"/>
          <p:cNvSpPr txBox="1"/>
          <p:nvPr/>
        </p:nvSpPr>
        <p:spPr>
          <a:xfrm>
            <a:off x="3566160" y="2194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566160" y="2880360"/>
            <a:ext cx="2148840" cy="6858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MLOps &amp; monitoring</a:t>
            </a:r>
            <a:endParaRPr lang="en-US" sz="1400" dirty="0"/>
          </a:p>
        </p:txBody>
      </p:sp>
      <p:sp>
        <p:nvSpPr>
          <p:cNvPr id="13" name="Text 11"/>
          <p:cNvSpPr txBox="1"/>
          <p:nvPr/>
        </p:nvSpPr>
        <p:spPr>
          <a:xfrm>
            <a:off x="3566160" y="3520440"/>
            <a:ext cx="2148840" cy="1554480"/>
          </a:xfrm>
          <a:prstGeom prst="rect">
            <a:avLst/>
          </a:prstGeom>
          <a:noFill/>
          <a:ln/>
        </p:spPr>
        <p:txBody>
          <a:bodyPr wrap="square" lIns="0" tIns="0" rIns="0" bIns="0" rtlCol="0" anchor="t"/>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Plateforme de surveillance continue pour détecter toute dérive de performance en production</a:t>
            </a:r>
            <a:endParaRPr lang="en-US" sz="1150" dirty="0"/>
          </a:p>
        </p:txBody>
      </p:sp>
      <p:sp>
        <p:nvSpPr>
          <p:cNvPr id="14" name="Shape 12"/>
          <p:cNvSpPr/>
          <p:nvPr/>
        </p:nvSpPr>
        <p:spPr>
          <a:xfrm>
            <a:off x="6126480" y="1920240"/>
            <a:ext cx="2606040" cy="3291840"/>
          </a:xfrm>
          <a:prstGeom prst="roundRect">
            <a:avLst>
              <a:gd name="adj" fmla="val 2807"/>
            </a:avLst>
          </a:prstGeom>
          <a:solidFill>
            <a:srgbClr val="F7F8FC"/>
          </a:solidFill>
          <a:ln/>
        </p:spPr>
        <p:txBody>
          <a:bodyPr/>
          <a:lstStyle/>
          <a:p>
            <a:endParaRPr lang="fr-FR"/>
          </a:p>
        </p:txBody>
      </p:sp>
      <p:sp>
        <p:nvSpPr>
          <p:cNvPr id="15" name="Shape 13"/>
          <p:cNvSpPr/>
          <p:nvPr/>
        </p:nvSpPr>
        <p:spPr>
          <a:xfrm>
            <a:off x="6355080" y="2194560"/>
            <a:ext cx="502920" cy="502920"/>
          </a:xfrm>
          <a:prstGeom prst="ellipse">
            <a:avLst/>
          </a:prstGeom>
          <a:solidFill>
            <a:srgbClr val="1E2761"/>
          </a:solidFill>
          <a:ln/>
        </p:spPr>
        <p:txBody>
          <a:bodyPr/>
          <a:lstStyle/>
          <a:p>
            <a:endParaRPr lang="fr-FR"/>
          </a:p>
        </p:txBody>
      </p:sp>
      <p:sp>
        <p:nvSpPr>
          <p:cNvPr id="16" name="Text 14"/>
          <p:cNvSpPr txBox="1"/>
          <p:nvPr/>
        </p:nvSpPr>
        <p:spPr>
          <a:xfrm>
            <a:off x="6355080" y="2194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355080" y="2880360"/>
            <a:ext cx="2148840" cy="6858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Extension du périmètre</a:t>
            </a:r>
            <a:endParaRPr lang="en-US" sz="1400" dirty="0"/>
          </a:p>
        </p:txBody>
      </p:sp>
      <p:sp>
        <p:nvSpPr>
          <p:cNvPr id="18" name="Text 16"/>
          <p:cNvSpPr txBox="1"/>
          <p:nvPr/>
        </p:nvSpPr>
        <p:spPr>
          <a:xfrm>
            <a:off x="6355080" y="3520440"/>
            <a:ext cx="2148840" cy="1554480"/>
          </a:xfrm>
          <a:prstGeom prst="rect">
            <a:avLst/>
          </a:prstGeom>
          <a:noFill/>
          <a:ln/>
        </p:spPr>
        <p:txBody>
          <a:bodyPr wrap="square" lIns="0" tIns="0" rIns="0" bIns="0" rtlCol="0" anchor="t"/>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Adapter les modules validés sur TGV aux réseaux TER et Transilien</a:t>
            </a:r>
            <a:endParaRPr lang="en-US" sz="1150" dirty="0"/>
          </a:p>
        </p:txBody>
      </p:sp>
      <p:sp>
        <p:nvSpPr>
          <p:cNvPr id="19" name="Shape 17"/>
          <p:cNvSpPr/>
          <p:nvPr/>
        </p:nvSpPr>
        <p:spPr>
          <a:xfrm>
            <a:off x="8915400" y="1920240"/>
            <a:ext cx="2606040" cy="3291840"/>
          </a:xfrm>
          <a:prstGeom prst="roundRect">
            <a:avLst>
              <a:gd name="adj" fmla="val 2807"/>
            </a:avLst>
          </a:prstGeom>
          <a:solidFill>
            <a:srgbClr val="F7F8FC"/>
          </a:solidFill>
          <a:ln/>
        </p:spPr>
        <p:txBody>
          <a:bodyPr/>
          <a:lstStyle/>
          <a:p>
            <a:endParaRPr lang="fr-FR"/>
          </a:p>
        </p:txBody>
      </p:sp>
      <p:sp>
        <p:nvSpPr>
          <p:cNvPr id="20" name="Shape 18"/>
          <p:cNvSpPr/>
          <p:nvPr/>
        </p:nvSpPr>
        <p:spPr>
          <a:xfrm>
            <a:off x="9144000" y="2194560"/>
            <a:ext cx="502920" cy="502920"/>
          </a:xfrm>
          <a:prstGeom prst="ellipse">
            <a:avLst/>
          </a:prstGeom>
          <a:solidFill>
            <a:srgbClr val="1E2761"/>
          </a:solidFill>
          <a:ln/>
        </p:spPr>
        <p:txBody>
          <a:bodyPr/>
          <a:lstStyle/>
          <a:p>
            <a:endParaRPr lang="fr-FR"/>
          </a:p>
        </p:txBody>
      </p:sp>
      <p:sp>
        <p:nvSpPr>
          <p:cNvPr id="21" name="Text 19"/>
          <p:cNvSpPr txBox="1"/>
          <p:nvPr/>
        </p:nvSpPr>
        <p:spPr>
          <a:xfrm>
            <a:off x="9144000" y="2194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144000" y="2880360"/>
            <a:ext cx="2148840" cy="6858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Cadre RGPD renforcé</a:t>
            </a:r>
            <a:endParaRPr lang="en-US" sz="1400" dirty="0"/>
          </a:p>
        </p:txBody>
      </p:sp>
      <p:sp>
        <p:nvSpPr>
          <p:cNvPr id="23" name="Text 21"/>
          <p:cNvSpPr txBox="1"/>
          <p:nvPr/>
        </p:nvSpPr>
        <p:spPr>
          <a:xfrm>
            <a:off x="9144000" y="3520440"/>
            <a:ext cx="2148840" cy="1554480"/>
          </a:xfrm>
          <a:prstGeom prst="rect">
            <a:avLst/>
          </a:prstGeom>
          <a:noFill/>
          <a:ln/>
        </p:spPr>
        <p:txBody>
          <a:bodyPr wrap="square" lIns="0" tIns="0" rIns="0" bIns="0" rtlCol="0" anchor="t"/>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DPO, AIPD et consentement explicite avant toute intégration des données SNCF Connect</a:t>
            </a:r>
            <a:endParaRPr lang="en-US" sz="1150" dirty="0"/>
          </a:p>
        </p:txBody>
      </p:sp>
      <p:sp>
        <p:nvSpPr>
          <p:cNvPr id="24" name="Text 22"/>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pic>
        <p:nvPicPr>
          <p:cNvPr id="25" name="Image 24" descr="Logotipo De La Historia De Sncf">
            <a:extLst>
              <a:ext uri="{FF2B5EF4-FFF2-40B4-BE49-F238E27FC236}">
                <a16:creationId xmlns:a16="http://schemas.microsoft.com/office/drawing/2014/main" id="{CFBDB1FB-229F-B66E-61AF-BF168D3445A8}"/>
              </a:ext>
            </a:extLst>
          </p:cNvPr>
          <p:cNvPicPr>
            <a:picLocks noChangeAspect="1"/>
          </p:cNvPicPr>
          <p:nvPr/>
        </p:nvPicPr>
        <p:blipFill>
          <a:blip r:embed="rId3"/>
          <a:stretch>
            <a:fillRect/>
          </a:stretch>
        </p:blipFill>
        <p:spPr>
          <a:xfrm>
            <a:off x="11556452" y="164592"/>
            <a:ext cx="513628" cy="288916"/>
          </a:xfrm>
          <a:prstGeom prst="rect">
            <a:avLst/>
          </a:prstGeom>
        </p:spPr>
      </p:pic>
      <p:pic>
        <p:nvPicPr>
          <p:cNvPr id="27" name="Image 26" descr="NEXA Digital School - Eureka Éducation">
            <a:extLst>
              <a:ext uri="{FF2B5EF4-FFF2-40B4-BE49-F238E27FC236}">
                <a16:creationId xmlns:a16="http://schemas.microsoft.com/office/drawing/2014/main" id="{B2EAE1A8-F392-0A6F-2035-51E0E73E94C2}"/>
              </a:ext>
            </a:extLst>
          </p:cNvPr>
          <p:cNvPicPr>
            <a:picLocks noChangeAspect="1"/>
          </p:cNvPicPr>
          <p:nvPr/>
        </p:nvPicPr>
        <p:blipFill>
          <a:blip r:embed="rId4"/>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E2001A"/>
                </a:solidFill>
                <a:latin typeface="Calibri" pitchFamily="34" charset="0"/>
                <a:ea typeface="Calibri" pitchFamily="34" charset="-122"/>
                <a:cs typeface="Calibri" pitchFamily="34" charset="-120"/>
              </a:rPr>
              <a:t>INVESTISSEMENT</a:t>
            </a:r>
            <a:endParaRPr lang="en-US" sz="1200" dirty="0"/>
          </a:p>
        </p:txBody>
      </p:sp>
      <p:sp>
        <p:nvSpPr>
          <p:cNvPr id="3" name="Text 1"/>
          <p:cNvSpPr txBox="1"/>
          <p:nvPr/>
        </p:nvSpPr>
        <p:spPr>
          <a:xfrm>
            <a:off x="548640" y="625652"/>
            <a:ext cx="11064240" cy="608787"/>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Budget et retour attendu</a:t>
            </a:r>
            <a:endParaRPr lang="en-US" sz="3000" dirty="0"/>
          </a:p>
        </p:txBody>
      </p:sp>
      <p:sp>
        <p:nvSpPr>
          <p:cNvPr id="4" name="Text 2"/>
          <p:cNvSpPr txBox="1"/>
          <p:nvPr/>
        </p:nvSpPr>
        <p:spPr>
          <a:xfrm>
            <a:off x="548640" y="1828800"/>
            <a:ext cx="3657600" cy="914400"/>
          </a:xfrm>
          <a:prstGeom prst="rect">
            <a:avLst/>
          </a:prstGeom>
          <a:noFill/>
          <a:ln/>
        </p:spPr>
        <p:txBody>
          <a:bodyPr wrap="square" lIns="0" tIns="0" rIns="0" bIns="0" rtlCol="0" anchor="ctr"/>
          <a:lstStyle/>
          <a:p>
            <a:pPr marL="0" indent="0">
              <a:buNone/>
            </a:pPr>
            <a:r>
              <a:rPr lang="en-US" sz="4600" b="1" dirty="0">
                <a:solidFill>
                  <a:srgbClr val="1E2761"/>
                </a:solidFill>
                <a:latin typeface="Cambria" pitchFamily="34" charset="0"/>
                <a:ea typeface="Cambria" pitchFamily="34" charset="-122"/>
                <a:cs typeface="Cambria" pitchFamily="34" charset="-120"/>
              </a:rPr>
              <a:t>455 000 €</a:t>
            </a:r>
            <a:endParaRPr lang="en-US" sz="4600" dirty="0"/>
          </a:p>
        </p:txBody>
      </p:sp>
      <p:sp>
        <p:nvSpPr>
          <p:cNvPr id="5" name="Text 3"/>
          <p:cNvSpPr txBox="1"/>
          <p:nvPr/>
        </p:nvSpPr>
        <p:spPr>
          <a:xfrm>
            <a:off x="548640" y="2697480"/>
            <a:ext cx="4754880" cy="8229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Budget global sur 9 mois — équipe-type de 6 profils (déploiement industriel de référence)</a:t>
            </a:r>
            <a:endParaRPr lang="en-US" sz="1300" dirty="0"/>
          </a:p>
        </p:txBody>
      </p:sp>
      <p:sp>
        <p:nvSpPr>
          <p:cNvPr id="6" name="Shape 4"/>
          <p:cNvSpPr/>
          <p:nvPr/>
        </p:nvSpPr>
        <p:spPr>
          <a:xfrm>
            <a:off x="548640" y="3657600"/>
            <a:ext cx="4754880" cy="1188720"/>
          </a:xfrm>
          <a:prstGeom prst="roundRect">
            <a:avLst>
              <a:gd name="adj" fmla="val 6154"/>
            </a:avLst>
          </a:prstGeom>
          <a:solidFill>
            <a:srgbClr val="1E2761"/>
          </a:solidFill>
          <a:ln/>
        </p:spPr>
        <p:txBody>
          <a:bodyPr/>
          <a:lstStyle/>
          <a:p>
            <a:endParaRPr lang="fr-FR"/>
          </a:p>
        </p:txBody>
      </p:sp>
      <p:sp>
        <p:nvSpPr>
          <p:cNvPr id="7" name="Text 5"/>
          <p:cNvSpPr txBox="1"/>
          <p:nvPr/>
        </p:nvSpPr>
        <p:spPr>
          <a:xfrm>
            <a:off x="777240" y="3794760"/>
            <a:ext cx="42976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ROI attendu sous 18 mois</a:t>
            </a:r>
            <a:endParaRPr lang="en-US" sz="1300" dirty="0"/>
          </a:p>
        </p:txBody>
      </p:sp>
      <p:sp>
        <p:nvSpPr>
          <p:cNvPr id="8" name="Text 6"/>
          <p:cNvSpPr txBox="1"/>
          <p:nvPr/>
        </p:nvSpPr>
        <p:spPr>
          <a:xfrm>
            <a:off x="777240" y="4160520"/>
            <a:ext cx="4297680" cy="5943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via la réduction de 20% des coûts de maintenance corrective</a:t>
            </a:r>
            <a:endParaRPr lang="en-US" sz="1200" dirty="0"/>
          </a:p>
        </p:txBody>
      </p:sp>
      <p:graphicFrame>
        <p:nvGraphicFramePr>
          <p:cNvPr id="9" name="Chart 0"/>
          <p:cNvGraphicFramePr/>
          <p:nvPr/>
        </p:nvGraphicFramePr>
        <p:xfrm>
          <a:off x="5669280" y="1737360"/>
          <a:ext cx="58521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pic>
        <p:nvPicPr>
          <p:cNvPr id="11" name="Image 10" descr="Logotipo De La Historia De Sncf">
            <a:extLst>
              <a:ext uri="{FF2B5EF4-FFF2-40B4-BE49-F238E27FC236}">
                <a16:creationId xmlns:a16="http://schemas.microsoft.com/office/drawing/2014/main" id="{4871F68F-7447-76D0-982C-B1B7685CAEB3}"/>
              </a:ext>
            </a:extLst>
          </p:cNvPr>
          <p:cNvPicPr>
            <a:picLocks noChangeAspect="1"/>
          </p:cNvPicPr>
          <p:nvPr/>
        </p:nvPicPr>
        <p:blipFill>
          <a:blip r:embed="rId4"/>
          <a:stretch>
            <a:fillRect/>
          </a:stretch>
        </p:blipFill>
        <p:spPr>
          <a:xfrm>
            <a:off x="11406110" y="115010"/>
            <a:ext cx="663970" cy="373483"/>
          </a:xfrm>
          <a:prstGeom prst="rect">
            <a:avLst/>
          </a:prstGeom>
        </p:spPr>
      </p:pic>
      <p:pic>
        <p:nvPicPr>
          <p:cNvPr id="13" name="Image 12" descr="NEXA Digital School - Eureka Éducation">
            <a:extLst>
              <a:ext uri="{FF2B5EF4-FFF2-40B4-BE49-F238E27FC236}">
                <a16:creationId xmlns:a16="http://schemas.microsoft.com/office/drawing/2014/main" id="{9D5F5070-0E04-373A-12E8-D6A181C54CED}"/>
              </a:ext>
            </a:extLst>
          </p:cNvPr>
          <p:cNvPicPr>
            <a:picLocks noChangeAspect="1"/>
          </p:cNvPicPr>
          <p:nvPr/>
        </p:nvPicPr>
        <p:blipFill>
          <a:blip r:embed="rId5"/>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3" name="Text 1"/>
          <p:cNvSpPr txBox="1"/>
          <p:nvPr/>
        </p:nvSpPr>
        <p:spPr>
          <a:xfrm>
            <a:off x="548640" y="164592"/>
            <a:ext cx="914400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EN UNE PHRASE</a:t>
            </a:r>
            <a:endParaRPr lang="en-US" sz="1200" dirty="0"/>
          </a:p>
        </p:txBody>
      </p:sp>
      <p:sp>
        <p:nvSpPr>
          <p:cNvPr id="4" name="Text 2"/>
          <p:cNvSpPr txBox="1"/>
          <p:nvPr/>
        </p:nvSpPr>
        <p:spPr>
          <a:xfrm>
            <a:off x="640080" y="1463040"/>
            <a:ext cx="10424160" cy="1490472"/>
          </a:xfrm>
          <a:prstGeom prst="rect">
            <a:avLst/>
          </a:prstGeom>
          <a:noFill/>
          <a:ln/>
        </p:spPr>
        <p:txBody>
          <a:bodyPr wrap="square" lIns="0" tIns="0" rIns="0" bIns="0" rtlCol="0" anchor="ctr"/>
          <a:lstStyle/>
          <a:p>
            <a:pPr marL="0" indent="0">
              <a:lnSpc>
                <a:spcPct val="115000"/>
              </a:lnSpc>
              <a:buNone/>
            </a:pPr>
            <a:r>
              <a:rPr lang="en-US" sz="3200" b="1" dirty="0">
                <a:solidFill>
                  <a:srgbClr val="FFFFFF"/>
                </a:solidFill>
                <a:latin typeface="Cambria" pitchFamily="34" charset="0"/>
                <a:ea typeface="Cambria" pitchFamily="34" charset="-122"/>
                <a:cs typeface="Cambria" pitchFamily="34" charset="-120"/>
              </a:rPr>
              <a:t>La SNCF a déjà la donnée. Il lui manque le système pour la faire parler.</a:t>
            </a:r>
            <a:endParaRPr lang="en-US" sz="3200" dirty="0"/>
          </a:p>
        </p:txBody>
      </p:sp>
      <p:sp>
        <p:nvSpPr>
          <p:cNvPr id="5" name="Shape 3"/>
          <p:cNvSpPr/>
          <p:nvPr/>
        </p:nvSpPr>
        <p:spPr>
          <a:xfrm>
            <a:off x="640080" y="3639312"/>
            <a:ext cx="109728" cy="109728"/>
          </a:xfrm>
          <a:prstGeom prst="ellipse">
            <a:avLst/>
          </a:prstGeom>
          <a:solidFill>
            <a:srgbClr val="E2001A"/>
          </a:solidFill>
          <a:ln/>
        </p:spPr>
        <p:txBody>
          <a:bodyPr/>
          <a:lstStyle/>
          <a:p>
            <a:endParaRPr lang="fr-FR"/>
          </a:p>
        </p:txBody>
      </p:sp>
      <p:sp>
        <p:nvSpPr>
          <p:cNvPr id="6" name="Text 4"/>
          <p:cNvSpPr txBox="1"/>
          <p:nvPr/>
        </p:nvSpPr>
        <p:spPr>
          <a:xfrm>
            <a:off x="914400" y="3566160"/>
            <a:ext cx="960120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Un prototype qui fonctionne et dit la vérité sur ses limites</a:t>
            </a:r>
            <a:endParaRPr lang="en-US" sz="1500" dirty="0"/>
          </a:p>
        </p:txBody>
      </p:sp>
      <p:sp>
        <p:nvSpPr>
          <p:cNvPr id="7" name="Shape 5"/>
          <p:cNvSpPr/>
          <p:nvPr/>
        </p:nvSpPr>
        <p:spPr>
          <a:xfrm>
            <a:off x="640080" y="4233672"/>
            <a:ext cx="109728" cy="109728"/>
          </a:xfrm>
          <a:prstGeom prst="ellipse">
            <a:avLst/>
          </a:prstGeom>
          <a:solidFill>
            <a:srgbClr val="E2001A"/>
          </a:solidFill>
          <a:ln/>
        </p:spPr>
        <p:txBody>
          <a:bodyPr/>
          <a:lstStyle/>
          <a:p>
            <a:endParaRPr lang="fr-FR"/>
          </a:p>
        </p:txBody>
      </p:sp>
      <p:sp>
        <p:nvSpPr>
          <p:cNvPr id="8" name="Text 6"/>
          <p:cNvSpPr txBox="1"/>
          <p:nvPr/>
        </p:nvSpPr>
        <p:spPr>
          <a:xfrm>
            <a:off x="914400" y="4160520"/>
            <a:ext cx="960120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Une feuille de route claire vers la production</a:t>
            </a:r>
            <a:endParaRPr lang="en-US" sz="1500" dirty="0"/>
          </a:p>
        </p:txBody>
      </p:sp>
      <p:sp>
        <p:nvSpPr>
          <p:cNvPr id="9" name="Shape 7"/>
          <p:cNvSpPr/>
          <p:nvPr/>
        </p:nvSpPr>
        <p:spPr>
          <a:xfrm>
            <a:off x="640080" y="4828032"/>
            <a:ext cx="109728" cy="109728"/>
          </a:xfrm>
          <a:prstGeom prst="ellipse">
            <a:avLst/>
          </a:prstGeom>
          <a:solidFill>
            <a:srgbClr val="E2001A"/>
          </a:solidFill>
          <a:ln/>
        </p:spPr>
        <p:txBody>
          <a:bodyPr/>
          <a:lstStyle/>
          <a:p>
            <a:endParaRPr lang="fr-FR"/>
          </a:p>
        </p:txBody>
      </p:sp>
      <p:sp>
        <p:nvSpPr>
          <p:cNvPr id="10" name="Text 8"/>
          <p:cNvSpPr txBox="1"/>
          <p:nvPr/>
        </p:nvSpPr>
        <p:spPr>
          <a:xfrm>
            <a:off x="914400" y="4754880"/>
            <a:ext cx="960120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Un investissement raisonné, avec un ROI mesurable sous 18 mois</a:t>
            </a:r>
            <a:endParaRPr lang="en-US" sz="1500" dirty="0"/>
          </a:p>
        </p:txBody>
      </p:sp>
      <p:sp>
        <p:nvSpPr>
          <p:cNvPr id="11" name="Text 9"/>
          <p:cNvSpPr txBox="1"/>
          <p:nvPr/>
        </p:nvSpPr>
        <p:spPr>
          <a:xfrm>
            <a:off x="4687747" y="5577840"/>
            <a:ext cx="4830115" cy="457200"/>
          </a:xfrm>
          <a:prstGeom prst="rect">
            <a:avLst/>
          </a:prstGeom>
          <a:noFill/>
          <a:ln/>
        </p:spPr>
        <p:txBody>
          <a:bodyPr wrap="square" lIns="0" tIns="0" rIns="0" bIns="0" rtlCol="0" anchor="ctr"/>
          <a:lstStyle/>
          <a:p>
            <a:pPr marL="0" indent="0">
              <a:buNone/>
            </a:pPr>
            <a:endParaRPr lang="en-US" sz="1800" dirty="0"/>
          </a:p>
        </p:txBody>
      </p:sp>
      <p:sp>
        <p:nvSpPr>
          <p:cNvPr id="12" name="Text 10"/>
          <p:cNvSpPr txBox="1"/>
          <p:nvPr/>
        </p:nvSpPr>
        <p:spPr>
          <a:xfrm>
            <a:off x="640080" y="6217920"/>
            <a:ext cx="7315200" cy="365760"/>
          </a:xfrm>
          <a:prstGeom prst="rect">
            <a:avLst/>
          </a:prstGeom>
          <a:noFill/>
          <a:ln/>
        </p:spPr>
        <p:txBody>
          <a:bodyPr wrap="square" lIns="0" tIns="0" rIns="0" bIns="0" rtlCol="0" anchor="ctr"/>
          <a:lstStyle/>
          <a:p>
            <a:pPr marL="0" indent="0">
              <a:buNone/>
            </a:pPr>
            <a:endParaRPr lang="en-US" sz="1200" dirty="0"/>
          </a:p>
        </p:txBody>
      </p:sp>
      <p:pic>
        <p:nvPicPr>
          <p:cNvPr id="13" name="Image 12" descr="Logotipo De La Historia De Sncf">
            <a:extLst>
              <a:ext uri="{FF2B5EF4-FFF2-40B4-BE49-F238E27FC236}">
                <a16:creationId xmlns:a16="http://schemas.microsoft.com/office/drawing/2014/main" id="{E797BD0F-89E8-3D55-DF66-64D218EAC6D5}"/>
              </a:ext>
            </a:extLst>
          </p:cNvPr>
          <p:cNvPicPr>
            <a:picLocks noChangeAspect="1"/>
          </p:cNvPicPr>
          <p:nvPr/>
        </p:nvPicPr>
        <p:blipFill>
          <a:blip r:embed="rId3"/>
          <a:stretch>
            <a:fillRect/>
          </a:stretch>
        </p:blipFill>
        <p:spPr>
          <a:xfrm>
            <a:off x="11230095" y="164592"/>
            <a:ext cx="826530" cy="464923"/>
          </a:xfrm>
          <a:prstGeom prst="rect">
            <a:avLst/>
          </a:prstGeom>
        </p:spPr>
      </p:pic>
      <p:pic>
        <p:nvPicPr>
          <p:cNvPr id="15" name="Image 14" descr="NEXA Digital School - Eureka Éducation">
            <a:extLst>
              <a:ext uri="{FF2B5EF4-FFF2-40B4-BE49-F238E27FC236}">
                <a16:creationId xmlns:a16="http://schemas.microsoft.com/office/drawing/2014/main" id="{28BAE033-2D82-7C4F-48FB-F999AFB7485B}"/>
              </a:ext>
            </a:extLst>
          </p:cNvPr>
          <p:cNvPicPr>
            <a:picLocks noChangeAspect="1"/>
          </p:cNvPicPr>
          <p:nvPr/>
        </p:nvPicPr>
        <p:blipFill>
          <a:blip r:embed="rId4"/>
          <a:stretch>
            <a:fillRect/>
          </a:stretch>
        </p:blipFill>
        <p:spPr>
          <a:xfrm rot="10800000" flipH="1" flipV="1">
            <a:off x="21626" y="6561341"/>
            <a:ext cx="618454" cy="2743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lumMod val="75000"/>
            <a:alpha val="99000"/>
          </a:schemeClr>
        </a:solidFill>
        <a:effectLst/>
      </p:bgPr>
    </p:bg>
    <p:spTree>
      <p:nvGrpSpPr>
        <p:cNvPr id="1" name=""/>
        <p:cNvGrpSpPr/>
        <p:nvPr/>
      </p:nvGrpSpPr>
      <p:grpSpPr>
        <a:xfrm>
          <a:off x="0" y="0"/>
          <a:ext cx="0" cy="0"/>
          <a:chOff x="0" y="0"/>
          <a:chExt cx="0" cy="0"/>
        </a:xfrm>
      </p:grpSpPr>
      <p:pic>
        <p:nvPicPr>
          <p:cNvPr id="4" name="Image 3" descr="Logotipo De La Historia De Sncf">
            <a:extLst>
              <a:ext uri="{FF2B5EF4-FFF2-40B4-BE49-F238E27FC236}">
                <a16:creationId xmlns:a16="http://schemas.microsoft.com/office/drawing/2014/main" id="{9207D1C1-4584-2ED8-2EA4-D243C5908D24}"/>
              </a:ext>
            </a:extLst>
          </p:cNvPr>
          <p:cNvPicPr>
            <a:picLocks noChangeAspect="1"/>
          </p:cNvPicPr>
          <p:nvPr/>
        </p:nvPicPr>
        <p:blipFill>
          <a:blip r:embed="rId2"/>
          <a:stretch>
            <a:fillRect/>
          </a:stretch>
        </p:blipFill>
        <p:spPr>
          <a:xfrm>
            <a:off x="10885507" y="457200"/>
            <a:ext cx="849293" cy="477727"/>
          </a:xfrm>
          <a:prstGeom prst="rect">
            <a:avLst/>
          </a:prstGeom>
        </p:spPr>
      </p:pic>
      <p:pic>
        <p:nvPicPr>
          <p:cNvPr id="6" name="Image 5" descr="NEXA Digital School - Eureka Éducation">
            <a:extLst>
              <a:ext uri="{FF2B5EF4-FFF2-40B4-BE49-F238E27FC236}">
                <a16:creationId xmlns:a16="http://schemas.microsoft.com/office/drawing/2014/main" id="{F0928CCF-2BFC-CEA1-68B1-8B65269CEA9F}"/>
              </a:ext>
            </a:extLst>
          </p:cNvPr>
          <p:cNvPicPr>
            <a:picLocks noChangeAspect="1"/>
          </p:cNvPicPr>
          <p:nvPr/>
        </p:nvPicPr>
        <p:blipFill>
          <a:blip r:embed="rId3"/>
          <a:stretch>
            <a:fillRect/>
          </a:stretch>
        </p:blipFill>
        <p:spPr>
          <a:xfrm rot="10800000" flipH="1" flipV="1">
            <a:off x="457200" y="6012238"/>
            <a:ext cx="876012" cy="388562"/>
          </a:xfrm>
          <a:prstGeom prst="rect">
            <a:avLst/>
          </a:prstGeom>
        </p:spPr>
      </p:pic>
      <p:sp>
        <p:nvSpPr>
          <p:cNvPr id="10" name="Text 9"/>
          <p:cNvSpPr txBox="1"/>
          <p:nvPr/>
        </p:nvSpPr>
        <p:spPr>
          <a:xfrm>
            <a:off x="3646024" y="2650000"/>
            <a:ext cx="6745975" cy="1600000"/>
          </a:xfrm>
          <a:prstGeom prst="rect">
            <a:avLst/>
          </a:prstGeom>
          <a:noFill/>
        </p:spPr>
        <p:txBody>
          <a:bodyPr wrap="square" lIns="91440" tIns="45720" rIns="91440" bIns="45720" anchor="ctr">
            <a:normAutofit/>
          </a:bodyPr>
          <a:lstStyle/>
          <a:p>
            <a:pPr algn="ctr"/>
            <a:endParaRPr lang="fr-FR" sz="2000" dirty="0">
              <a:latin typeface="+mn-lt"/>
            </a:endParaRPr>
          </a:p>
        </p:txBody>
      </p:sp>
      <p:sp>
        <p:nvSpPr>
          <p:cNvPr id="17" name="Titre 16">
            <a:extLst>
              <a:ext uri="{FF2B5EF4-FFF2-40B4-BE49-F238E27FC236}">
                <a16:creationId xmlns:a16="http://schemas.microsoft.com/office/drawing/2014/main" id="{4D80ADD0-9799-BE21-C2E1-88F1F27055C1}"/>
              </a:ext>
            </a:extLst>
          </p:cNvPr>
          <p:cNvSpPr>
            <a:spLocks noGrp="1"/>
          </p:cNvSpPr>
          <p:nvPr>
            <p:ph type="title"/>
          </p:nvPr>
        </p:nvSpPr>
        <p:spPr>
          <a:xfrm>
            <a:off x="1800000" y="2450000"/>
            <a:ext cx="8592000" cy="1100000"/>
          </a:xfrm>
        </p:spPr>
        <p:txBody>
          <a:bodyPr>
            <a:normAutofit/>
          </a:bodyPr>
          <a:lstStyle/>
          <a:p>
            <a:pPr algn="ctr"/>
            <a:r>
              <a:rPr lang="fr-FR" sz="5400" b="1">
                <a:solidFill>
                  <a:srgbClr val="FFFFFF"/>
                </a:solidFill>
                <a:latin typeface="Cambria" pitchFamily="34" charset="0"/>
                <a:ea typeface="Cambria" pitchFamily="34" charset="-122"/>
                <a:cs typeface="Cambria" pitchFamily="34" charset="-120"/>
              </a:rPr>
              <a:t>Merci de votre attention</a:t>
            </a:r>
            <a:endParaRPr lang="fr-FR" sz="5400"/>
          </a:p>
        </p:txBody>
      </p:sp>
      <p:sp>
        <p:nvSpPr>
          <p:cNvPr id="21" name="ZoneTexte 20">
            <a:extLst>
              <a:ext uri="{FF2B5EF4-FFF2-40B4-BE49-F238E27FC236}">
                <a16:creationId xmlns:a16="http://schemas.microsoft.com/office/drawing/2014/main" id="{FA63C4FE-E213-697E-044C-175EB795B43B}"/>
              </a:ext>
            </a:extLst>
          </p:cNvPr>
          <p:cNvSpPr txBox="1"/>
          <p:nvPr/>
        </p:nvSpPr>
        <p:spPr>
          <a:xfrm>
            <a:off x="1800000" y="3700000"/>
            <a:ext cx="859200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000" b="0">
                <a:solidFill>
                  <a:srgbClr val="FFFFFF"/>
                </a:solidFill>
                <a:latin typeface="Cambria" pitchFamily="34" charset="0"/>
                <a:ea typeface="Cambria" pitchFamily="34" charset="-122"/>
              </a:rPr>
              <a:t>Avez-vous des questions ?</a:t>
            </a:r>
            <a:endParaRPr kumimoji="0" lang="en-US" sz="1800" b="0" i="0" u="none" strike="noStrike" kern="1200" cap="none" spc="0" normalizeH="0" baseline="0" noProof="0">
              <a:ln>
                <a:noFill/>
              </a:ln>
              <a:solidFill>
                <a:prstClr val="black"/>
              </a:solidFill>
              <a:effectLst/>
              <a:uLnTx/>
              <a:uFillTx/>
              <a:latin typeface="Neue Haas Grotesk Text Pro"/>
              <a:ea typeface="+mn-ea"/>
              <a:cs typeface="+mn-cs"/>
            </a:endParaRPr>
          </a:p>
        </p:txBody>
      </p:sp>
    </p:spTree>
    <p:extLst>
      <p:ext uri="{BB962C8B-B14F-4D97-AF65-F5344CB8AC3E}">
        <p14:creationId xmlns:p14="http://schemas.microsoft.com/office/powerpoint/2010/main" val="73467612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theme/theme1.xml><?xml version="1.0" encoding="utf-8"?>
<a:theme xmlns:a="http://schemas.openxmlformats.org/drawingml/2006/main" name="Ax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Axis</Template>
  <TotalTime>160</TotalTime>
  <Words>1146</Words>
  <Application>Microsoft Office PowerPoint</Application>
  <PresentationFormat>Grand écran</PresentationFormat>
  <Paragraphs>163</Paragraphs>
  <Slides>15</Slides>
  <Notes>13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Cambria</vt:lpstr>
      <vt:lpstr>Neue Haas Grotesk Text Pro</vt:lpstr>
      <vt:lpstr>Axe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Merci de votre attention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Nosaiba Elkrekshi</cp:lastModifiedBy>
  <cp:revision>4</cp:revision>
  <cp:lastPrinted>2026-08-27T02:18:56Z</cp:lastPrinted>
  <dcterms:created xsi:type="dcterms:W3CDTF">2026-08-26T23:52:37Z</dcterms:created>
  <dcterms:modified xsi:type="dcterms:W3CDTF">2026-09-02T09:07:19Z</dcterms:modified>
</cp:coreProperties>
</file>